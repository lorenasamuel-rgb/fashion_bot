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lot before anyone buys it. FleekFlow writes the wholesale record in conversation, the supplier confirms it, and that same record stays for the buyer and for any later mismatch. The sheet on the right is still empty. Confirm stays off until the supplier says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four gaps. Quantity can disagree with itself: 20 stated, 18 counted. Sizes, defects, shipping, and duties are often missing. Do not claim this product fixes photographing, sourcing, or returns as market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half of the problem. The pain is repetition, and a case with no confirmed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line slowly. It is the whole product: one record, two moments. Before the purchase, and after a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sheet first. The buyer page is the outcome of the supplier’s work, not a second product. The reviewer sees that same document plus the report. A person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map, then switch to the live app. The conflict stays open until the supplier picks one number. Stock is 18, not 20. Order FLK-DEMO-1842 becomes a review draft. The draft compares the record with the report. It does not decide a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A web search is labeled “found on the web” and never fills the lot. The purchasable item is created only after the supplier confirms.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demo handoff. If there is time for one question, answer inside the rule: we record what was said, and a person decides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58368" y="1234440"/>
            <a:ext cx="5623560" cy="2606040"/>
          </a:xfrm>
          <a:prstGeom prst="rect">
            <a:avLst/>
          </a:prstGeom>
          <a:noFill/>
          <a:ln/>
        </p:spPr>
        <p:txBody>
          <a:bodyPr wrap="square" lIns="0" tIns="0" rIns="0" bIns="0" rtlCol="0" anchor="t"/>
          <a:lstStyle/>
          <a:p>
            <a:pPr indent="0" marL="0">
              <a:buNone/>
            </a:pPr>
            <a:r>
              <a:rPr lang="en-US" sz="4600" b="1" spc="-110" kern="0" dirty="0">
                <a:solidFill>
                  <a:srgbClr val="1D1D1F"/>
                </a:solidFill>
                <a:latin typeface="Helvetica Neue" pitchFamily="34" charset="0"/>
                <a:ea typeface="Helvetica Neue" pitchFamily="34" charset="-122"/>
                <a:cs typeface="Helvetica Neue" pitchFamily="34" charset="-120"/>
              </a:rPr>
              <a:t>Finish the lot</a:t>
            </a:r>
            <a:endParaRPr lang="en-US" sz="4600" dirty="0"/>
          </a:p>
          <a:p>
            <a:pPr indent="0" marL="0">
              <a:buNone/>
            </a:pPr>
            <a:r>
              <a:rPr lang="en-US" sz="4600" b="1" spc="-110" kern="0" dirty="0">
                <a:solidFill>
                  <a:srgbClr val="1D1D1F"/>
                </a:solidFill>
                <a:latin typeface="Helvetica Neue" pitchFamily="34" charset="0"/>
                <a:ea typeface="Helvetica Neue" pitchFamily="34" charset="-122"/>
                <a:cs typeface="Helvetica Neue" pitchFamily="34" charset="-120"/>
              </a:rPr>
              <a:t>before anyone</a:t>
            </a:r>
            <a:endParaRPr lang="en-US" sz="4600" dirty="0"/>
          </a:p>
          <a:p>
            <a:pPr indent="0" marL="0">
              <a:buNone/>
            </a:pPr>
            <a:r>
              <a:rPr lang="en-US" sz="4600" b="1" spc="-110" kern="0" dirty="0">
                <a:solidFill>
                  <a:srgbClr val="1D1D1F"/>
                </a:solidFill>
                <a:latin typeface="Helvetica Neue" pitchFamily="34" charset="0"/>
                <a:ea typeface="Helvetica Neue" pitchFamily="34" charset="-122"/>
                <a:cs typeface="Helvetica Neue" pitchFamily="34" charset="-120"/>
              </a:rPr>
              <a:t>buys it.</a:t>
            </a:r>
            <a:endParaRPr lang="en-US" sz="4600" dirty="0"/>
          </a:p>
        </p:txBody>
      </p:sp>
      <p:sp>
        <p:nvSpPr>
          <p:cNvPr id="3" name="Text 1"/>
          <p:cNvSpPr/>
          <p:nvPr/>
        </p:nvSpPr>
        <p:spPr>
          <a:xfrm>
            <a:off x="658368" y="4069080"/>
            <a:ext cx="5212080" cy="1234440"/>
          </a:xfrm>
          <a:prstGeom prst="rect">
            <a:avLst/>
          </a:prstGeom>
          <a:noFill/>
          <a:ln/>
        </p:spPr>
        <p:txBody>
          <a:bodyPr wrap="square" lIns="0" tIns="0" rIns="0" bIns="0" rtlCol="0" anchor="ctr"/>
          <a:lstStyle/>
          <a:p>
            <a:pPr indent="0" marL="0">
              <a:buNone/>
            </a:pPr>
            <a:r>
              <a:rPr lang="en-US" sz="1800" dirty="0">
                <a:solidFill>
                  <a:srgbClr val="6E6E73"/>
                </a:solidFill>
                <a:latin typeface="Helvetica Neue" pitchFamily="34" charset="0"/>
                <a:ea typeface="Helvetica Neue" pitchFamily="34" charset="-122"/>
                <a:cs typeface="Helvetica Neue" pitchFamily="34" charset="-120"/>
              </a:rPr>
              <a:t>FleekFlow writes the wholesale record in conversation. The supplier confirms it. That record stays for the buyer and for any later mismatch.</a:t>
            </a:r>
            <a:endParaRPr lang="en-US" sz="1800" dirty="0"/>
          </a:p>
        </p:txBody>
      </p:sp>
      <p:sp>
        <p:nvSpPr>
          <p:cNvPr id="4" name="Shape 2"/>
          <p:cNvSpPr/>
          <p:nvPr/>
        </p:nvSpPr>
        <p:spPr>
          <a:xfrm>
            <a:off x="6629400" y="438912"/>
            <a:ext cx="4937760" cy="5943600"/>
          </a:xfrm>
          <a:prstGeom prst="roundRect">
            <a:avLst>
              <a:gd name="adj" fmla="val 1111"/>
            </a:avLst>
          </a:prstGeom>
          <a:solidFill>
            <a:srgbClr val="FFFFFF"/>
          </a:solidFill>
          <a:ln w="12700">
            <a:solidFill>
              <a:srgbClr val="D2D2D7"/>
            </a:solidFill>
            <a:prstDash val="solid"/>
          </a:ln>
          <a:effectLst>
            <a:outerShdw sx="100000" sy="100000" kx="0" ky="0" algn="bl" rotWithShape="0" blurRad="355600" dist="127000" dir="5400000">
              <a:srgbClr val="000000">
                <a:alpha val="14000"/>
              </a:srgbClr>
            </a:outerShdw>
          </a:effectLst>
        </p:spPr>
      </p:sp>
      <p:sp>
        <p:nvSpPr>
          <p:cNvPr id="5" name="Text 3"/>
          <p:cNvSpPr/>
          <p:nvPr/>
        </p:nvSpPr>
        <p:spPr>
          <a:xfrm>
            <a:off x="6931152" y="713232"/>
            <a:ext cx="4297680" cy="384048"/>
          </a:xfrm>
          <a:prstGeom prst="rect">
            <a:avLst/>
          </a:prstGeom>
          <a:noFill/>
          <a:ln/>
        </p:spPr>
        <p:txBody>
          <a:bodyPr wrap="square" lIns="0" tIns="0" rIns="0" bIns="0" rtlCol="0" anchor="ctr"/>
          <a:lstStyle/>
          <a:p>
            <a:pPr indent="0" marL="0">
              <a:buNone/>
            </a:pPr>
            <a:r>
              <a:rPr lang="en-US" sz="2200" b="1" dirty="0">
                <a:solidFill>
                  <a:srgbClr val="1D1D1F"/>
                </a:solidFill>
                <a:latin typeface="Helvetica Neue" pitchFamily="34" charset="0"/>
                <a:ea typeface="Helvetica Neue" pitchFamily="34" charset="-122"/>
                <a:cs typeface="Helvetica Neue" pitchFamily="34" charset="-120"/>
              </a:rPr>
              <a:t>Upload products</a:t>
            </a:r>
            <a:endParaRPr lang="en-US" sz="2200" dirty="0"/>
          </a:p>
        </p:txBody>
      </p:sp>
      <p:sp>
        <p:nvSpPr>
          <p:cNvPr id="6" name="Shape 4"/>
          <p:cNvSpPr/>
          <p:nvPr/>
        </p:nvSpPr>
        <p:spPr>
          <a:xfrm>
            <a:off x="6931152" y="1207008"/>
            <a:ext cx="128016" cy="128016"/>
          </a:xfrm>
          <a:prstGeom prst="ellipse">
            <a:avLst/>
          </a:prstGeom>
          <a:solidFill>
            <a:srgbClr val="F8C040"/>
          </a:solidFill>
          <a:ln w="12700">
            <a:solidFill>
              <a:srgbClr val="F8C040"/>
            </a:solidFill>
            <a:prstDash val="solid"/>
          </a:ln>
        </p:spPr>
      </p:sp>
      <p:sp>
        <p:nvSpPr>
          <p:cNvPr id="7" name="Shape 5"/>
          <p:cNvSpPr/>
          <p:nvPr/>
        </p:nvSpPr>
        <p:spPr>
          <a:xfrm>
            <a:off x="7168896" y="1207008"/>
            <a:ext cx="128016" cy="128016"/>
          </a:xfrm>
          <a:prstGeom prst="ellipse">
            <a:avLst/>
          </a:prstGeom>
          <a:solidFill>
            <a:srgbClr val="C7C7CC"/>
          </a:solidFill>
          <a:ln w="12700">
            <a:solidFill>
              <a:srgbClr val="C7C7CC"/>
            </a:solidFill>
            <a:prstDash val="solid"/>
          </a:ln>
        </p:spPr>
      </p:sp>
      <p:sp>
        <p:nvSpPr>
          <p:cNvPr id="8" name="Shape 6"/>
          <p:cNvSpPr/>
          <p:nvPr/>
        </p:nvSpPr>
        <p:spPr>
          <a:xfrm>
            <a:off x="7406640" y="1207008"/>
            <a:ext cx="128016" cy="128016"/>
          </a:xfrm>
          <a:prstGeom prst="ellipse">
            <a:avLst/>
          </a:prstGeom>
          <a:solidFill>
            <a:srgbClr val="C7C7CC"/>
          </a:solidFill>
          <a:ln w="12700">
            <a:solidFill>
              <a:srgbClr val="C7C7CC"/>
            </a:solidFill>
            <a:prstDash val="solid"/>
          </a:ln>
        </p:spPr>
      </p:sp>
      <p:sp>
        <p:nvSpPr>
          <p:cNvPr id="9" name="Shape 7"/>
          <p:cNvSpPr/>
          <p:nvPr/>
        </p:nvSpPr>
        <p:spPr>
          <a:xfrm>
            <a:off x="7644384" y="1207008"/>
            <a:ext cx="128016" cy="128016"/>
          </a:xfrm>
          <a:prstGeom prst="ellipse">
            <a:avLst/>
          </a:prstGeom>
          <a:solidFill>
            <a:srgbClr val="C7C7CC"/>
          </a:solidFill>
          <a:ln w="12700">
            <a:solidFill>
              <a:srgbClr val="C7C7CC"/>
            </a:solidFill>
            <a:prstDash val="solid"/>
          </a:ln>
        </p:spPr>
      </p:sp>
      <p:sp>
        <p:nvSpPr>
          <p:cNvPr id="10" name="Text 8"/>
          <p:cNvSpPr/>
          <p:nvPr/>
        </p:nvSpPr>
        <p:spPr>
          <a:xfrm>
            <a:off x="6931152" y="1755648"/>
            <a:ext cx="420624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Shop</a:t>
            </a:r>
            <a:endParaRPr lang="en-US" sz="1200" dirty="0"/>
          </a:p>
        </p:txBody>
      </p:sp>
      <p:sp>
        <p:nvSpPr>
          <p:cNvPr id="11" name="Text 9"/>
          <p:cNvSpPr/>
          <p:nvPr/>
        </p:nvSpPr>
        <p:spPr>
          <a:xfrm>
            <a:off x="6931152" y="1975104"/>
            <a:ext cx="4206240" cy="292608"/>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Not stated</a:t>
            </a:r>
            <a:endParaRPr lang="en-US" sz="1600" dirty="0"/>
          </a:p>
        </p:txBody>
      </p:sp>
      <p:sp>
        <p:nvSpPr>
          <p:cNvPr id="12" name="Shape 10"/>
          <p:cNvSpPr/>
          <p:nvPr/>
        </p:nvSpPr>
        <p:spPr>
          <a:xfrm>
            <a:off x="6931152" y="2432304"/>
            <a:ext cx="4334256" cy="10973"/>
          </a:xfrm>
          <a:prstGeom prst="rect">
            <a:avLst/>
          </a:prstGeom>
          <a:solidFill>
            <a:srgbClr val="D2D2D7"/>
          </a:solidFill>
          <a:ln w="12700">
            <a:solidFill>
              <a:srgbClr val="D2D2D7"/>
            </a:solidFill>
            <a:prstDash val="solid"/>
          </a:ln>
        </p:spPr>
      </p:sp>
      <p:sp>
        <p:nvSpPr>
          <p:cNvPr id="13" name="Text 11"/>
          <p:cNvSpPr/>
          <p:nvPr/>
        </p:nvSpPr>
        <p:spPr>
          <a:xfrm>
            <a:off x="6931152" y="2560320"/>
            <a:ext cx="420624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Quantity</a:t>
            </a:r>
            <a:endParaRPr lang="en-US" sz="1200" dirty="0"/>
          </a:p>
        </p:txBody>
      </p:sp>
      <p:sp>
        <p:nvSpPr>
          <p:cNvPr id="14" name="Text 12"/>
          <p:cNvSpPr/>
          <p:nvPr/>
        </p:nvSpPr>
        <p:spPr>
          <a:xfrm>
            <a:off x="6931152" y="2779776"/>
            <a:ext cx="4206240" cy="292608"/>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Not stated</a:t>
            </a:r>
            <a:endParaRPr lang="en-US" sz="1600" dirty="0"/>
          </a:p>
        </p:txBody>
      </p:sp>
      <p:sp>
        <p:nvSpPr>
          <p:cNvPr id="15" name="Shape 13"/>
          <p:cNvSpPr/>
          <p:nvPr/>
        </p:nvSpPr>
        <p:spPr>
          <a:xfrm>
            <a:off x="6931152" y="3236976"/>
            <a:ext cx="4334256" cy="10973"/>
          </a:xfrm>
          <a:prstGeom prst="rect">
            <a:avLst/>
          </a:prstGeom>
          <a:solidFill>
            <a:srgbClr val="D2D2D7"/>
          </a:solidFill>
          <a:ln w="12700">
            <a:solidFill>
              <a:srgbClr val="D2D2D7"/>
            </a:solidFill>
            <a:prstDash val="solid"/>
          </a:ln>
        </p:spPr>
      </p:sp>
      <p:sp>
        <p:nvSpPr>
          <p:cNvPr id="16" name="Text 14"/>
          <p:cNvSpPr/>
          <p:nvPr/>
        </p:nvSpPr>
        <p:spPr>
          <a:xfrm>
            <a:off x="6931152" y="3364992"/>
            <a:ext cx="420624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Sizes</a:t>
            </a:r>
            <a:endParaRPr lang="en-US" sz="1200" dirty="0"/>
          </a:p>
        </p:txBody>
      </p:sp>
      <p:sp>
        <p:nvSpPr>
          <p:cNvPr id="17" name="Text 15"/>
          <p:cNvSpPr/>
          <p:nvPr/>
        </p:nvSpPr>
        <p:spPr>
          <a:xfrm>
            <a:off x="6931152" y="3584448"/>
            <a:ext cx="4206240" cy="292608"/>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Not stated</a:t>
            </a:r>
            <a:endParaRPr lang="en-US" sz="1600" dirty="0"/>
          </a:p>
        </p:txBody>
      </p:sp>
      <p:sp>
        <p:nvSpPr>
          <p:cNvPr id="18" name="Shape 16"/>
          <p:cNvSpPr/>
          <p:nvPr/>
        </p:nvSpPr>
        <p:spPr>
          <a:xfrm>
            <a:off x="6931152" y="4041648"/>
            <a:ext cx="4334256" cy="10973"/>
          </a:xfrm>
          <a:prstGeom prst="rect">
            <a:avLst/>
          </a:prstGeom>
          <a:solidFill>
            <a:srgbClr val="D2D2D7"/>
          </a:solidFill>
          <a:ln w="12700">
            <a:solidFill>
              <a:srgbClr val="D2D2D7"/>
            </a:solidFill>
            <a:prstDash val="solid"/>
          </a:ln>
        </p:spPr>
      </p:sp>
      <p:sp>
        <p:nvSpPr>
          <p:cNvPr id="19" name="Text 17"/>
          <p:cNvSpPr/>
          <p:nvPr/>
        </p:nvSpPr>
        <p:spPr>
          <a:xfrm>
            <a:off x="6931152" y="4169664"/>
            <a:ext cx="420624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Defects</a:t>
            </a:r>
            <a:endParaRPr lang="en-US" sz="1200" dirty="0"/>
          </a:p>
        </p:txBody>
      </p:sp>
      <p:sp>
        <p:nvSpPr>
          <p:cNvPr id="20" name="Text 18"/>
          <p:cNvSpPr/>
          <p:nvPr/>
        </p:nvSpPr>
        <p:spPr>
          <a:xfrm>
            <a:off x="6931152" y="4389120"/>
            <a:ext cx="4206240" cy="292608"/>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Not stated</a:t>
            </a:r>
            <a:endParaRPr lang="en-US" sz="1600" dirty="0"/>
          </a:p>
        </p:txBody>
      </p:sp>
      <p:sp>
        <p:nvSpPr>
          <p:cNvPr id="21" name="Shape 19"/>
          <p:cNvSpPr/>
          <p:nvPr/>
        </p:nvSpPr>
        <p:spPr>
          <a:xfrm>
            <a:off x="6931152" y="5102352"/>
            <a:ext cx="4334256" cy="512064"/>
          </a:xfrm>
          <a:prstGeom prst="roundRect">
            <a:avLst>
              <a:gd name="adj" fmla="val 14286"/>
            </a:avLst>
          </a:prstGeom>
          <a:solidFill>
            <a:srgbClr val="E8E8ED"/>
          </a:solidFill>
          <a:ln w="12700">
            <a:solidFill>
              <a:srgbClr val="E8E8ED"/>
            </a:solidFill>
            <a:prstDash val="solid"/>
          </a:ln>
        </p:spPr>
      </p:sp>
      <p:sp>
        <p:nvSpPr>
          <p:cNvPr id="22" name="Text 20"/>
          <p:cNvSpPr/>
          <p:nvPr/>
        </p:nvSpPr>
        <p:spPr>
          <a:xfrm>
            <a:off x="6931152" y="5102352"/>
            <a:ext cx="4334256" cy="512064"/>
          </a:xfrm>
          <a:prstGeom prst="rect">
            <a:avLst/>
          </a:prstGeom>
          <a:noFill/>
          <a:ln/>
        </p:spPr>
        <p:txBody>
          <a:bodyPr wrap="square" lIns="0" tIns="0" rIns="0" bIns="0" rtlCol="0" anchor="ctr"/>
          <a:lstStyle/>
          <a:p>
            <a:pPr algn="ctr" indent="0" marL="0">
              <a:buNone/>
            </a:pPr>
            <a:r>
              <a:rPr lang="en-US" sz="1600" b="1" dirty="0">
                <a:solidFill>
                  <a:srgbClr val="3A3A3E"/>
                </a:solidFill>
                <a:latin typeface="Helvetica Neue" pitchFamily="34" charset="0"/>
                <a:ea typeface="Helvetica Neue" pitchFamily="34" charset="-122"/>
                <a:cs typeface="Helvetica Neue" pitchFamily="34" charset="-120"/>
              </a:rPr>
              <a:t>Confirm record</a:t>
            </a:r>
            <a:endParaRPr lang="en-US" sz="1600" dirty="0"/>
          </a:p>
        </p:txBody>
      </p:sp>
      <p:sp>
        <p:nvSpPr>
          <p:cNvPr id="23" name="Text 21"/>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24" name="Text 22"/>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384048"/>
            <a:ext cx="10881360" cy="1325880"/>
          </a:xfrm>
          <a:prstGeom prst="rect">
            <a:avLst/>
          </a:prstGeom>
          <a:noFill/>
          <a:ln/>
        </p:spPr>
        <p:txBody>
          <a:bodyPr wrap="square" lIns="0" tIns="0" rIns="0" bIns="0" rtlCol="0" anchor="t"/>
          <a:lstStyle/>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A reseller chooses a lot</a:t>
            </a:r>
            <a:endParaRPr lang="en-US" sz="3600" dirty="0"/>
          </a:p>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from an incomplete record.</a:t>
            </a:r>
            <a:endParaRPr lang="en-US" sz="3600" dirty="0"/>
          </a:p>
        </p:txBody>
      </p:sp>
      <p:sp>
        <p:nvSpPr>
          <p:cNvPr id="3" name="Shape 1"/>
          <p:cNvSpPr/>
          <p:nvPr/>
        </p:nvSpPr>
        <p:spPr>
          <a:xfrm>
            <a:off x="640080" y="2011680"/>
            <a:ext cx="10908792" cy="4160520"/>
          </a:xfrm>
          <a:prstGeom prst="roundRect">
            <a:avLst>
              <a:gd name="adj" fmla="val 1319"/>
            </a:avLst>
          </a:prstGeom>
          <a:solidFill>
            <a:srgbClr val="FFFFFF"/>
          </a:solidFill>
          <a:ln w="12700">
            <a:solidFill>
              <a:srgbClr val="D2D2D7"/>
            </a:solidFill>
            <a:prstDash val="solid"/>
          </a:ln>
          <a:effectLst>
            <a:outerShdw sx="100000" sy="100000" kx="0" ky="0" algn="bl" rotWithShape="0" blurRad="4516120000" dist="1612900000" dir="324000000000">
              <a:srgbClr val="000000">
                <a:alpha val="1400000000"/>
              </a:srgbClr>
            </a:outerShdw>
          </a:effectLst>
        </p:spPr>
      </p:sp>
      <p:sp>
        <p:nvSpPr>
          <p:cNvPr id="4" name="Text 2"/>
          <p:cNvSpPr/>
          <p:nvPr/>
        </p:nvSpPr>
        <p:spPr>
          <a:xfrm>
            <a:off x="960120" y="2267712"/>
            <a:ext cx="3017520" cy="50292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Quantity</a:t>
            </a:r>
            <a:endParaRPr lang="en-US" sz="1800" dirty="0"/>
          </a:p>
        </p:txBody>
      </p:sp>
      <p:sp>
        <p:nvSpPr>
          <p:cNvPr id="5" name="Text 3"/>
          <p:cNvSpPr/>
          <p:nvPr/>
        </p:nvSpPr>
        <p:spPr>
          <a:xfrm>
            <a:off x="4023360" y="2267712"/>
            <a:ext cx="5029200" cy="50292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20 on the listing. The count can be 18.</a:t>
            </a:r>
            <a:endParaRPr lang="en-US" sz="1600" dirty="0"/>
          </a:p>
        </p:txBody>
      </p:sp>
      <p:sp>
        <p:nvSpPr>
          <p:cNvPr id="6" name="Shape 4"/>
          <p:cNvSpPr/>
          <p:nvPr/>
        </p:nvSpPr>
        <p:spPr>
          <a:xfrm>
            <a:off x="9281160" y="2359152"/>
            <a:ext cx="1783080" cy="329184"/>
          </a:xfrm>
          <a:prstGeom prst="roundRect">
            <a:avLst>
              <a:gd name="adj" fmla="val 50000"/>
            </a:avLst>
          </a:prstGeom>
          <a:solidFill>
            <a:srgbClr val="1D1D1F"/>
          </a:solidFill>
          <a:ln w="12700">
            <a:solidFill>
              <a:srgbClr val="1D1D1F"/>
            </a:solidFill>
            <a:prstDash val="solid"/>
          </a:ln>
        </p:spPr>
      </p:sp>
      <p:sp>
        <p:nvSpPr>
          <p:cNvPr id="7" name="Text 5"/>
          <p:cNvSpPr/>
          <p:nvPr/>
        </p:nvSpPr>
        <p:spPr>
          <a:xfrm>
            <a:off x="9281160" y="2359152"/>
            <a:ext cx="17830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elvetica Neue" pitchFamily="34" charset="0"/>
                <a:ea typeface="Helvetica Neue" pitchFamily="34" charset="-122"/>
                <a:cs typeface="Helvetica Neue" pitchFamily="34" charset="-120"/>
              </a:rPr>
              <a:t>Open</a:t>
            </a:r>
            <a:endParaRPr lang="en-US" sz="1200" dirty="0"/>
          </a:p>
        </p:txBody>
      </p:sp>
      <p:sp>
        <p:nvSpPr>
          <p:cNvPr id="8" name="Shape 6"/>
          <p:cNvSpPr/>
          <p:nvPr/>
        </p:nvSpPr>
        <p:spPr>
          <a:xfrm>
            <a:off x="960120" y="3054096"/>
            <a:ext cx="10268712" cy="9144"/>
          </a:xfrm>
          <a:prstGeom prst="rect">
            <a:avLst/>
          </a:prstGeom>
          <a:solidFill>
            <a:srgbClr val="D2D2D7"/>
          </a:solidFill>
          <a:ln w="12700">
            <a:solidFill>
              <a:srgbClr val="D2D2D7"/>
            </a:solidFill>
            <a:prstDash val="solid"/>
          </a:ln>
        </p:spPr>
      </p:sp>
      <p:sp>
        <p:nvSpPr>
          <p:cNvPr id="9" name="Text 7"/>
          <p:cNvSpPr/>
          <p:nvPr/>
        </p:nvSpPr>
        <p:spPr>
          <a:xfrm>
            <a:off x="960120" y="3310128"/>
            <a:ext cx="3017520" cy="50292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Sizes</a:t>
            </a:r>
            <a:endParaRPr lang="en-US" sz="1800" dirty="0"/>
          </a:p>
        </p:txBody>
      </p:sp>
      <p:sp>
        <p:nvSpPr>
          <p:cNvPr id="10" name="Text 8"/>
          <p:cNvSpPr/>
          <p:nvPr/>
        </p:nvSpPr>
        <p:spPr>
          <a:xfrm>
            <a:off x="4023360" y="3310128"/>
            <a:ext cx="5029200" cy="50292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The mix is missing until someone asks.</a:t>
            </a:r>
            <a:endParaRPr lang="en-US" sz="1600" dirty="0"/>
          </a:p>
        </p:txBody>
      </p:sp>
      <p:sp>
        <p:nvSpPr>
          <p:cNvPr id="11" name="Shape 9"/>
          <p:cNvSpPr/>
          <p:nvPr/>
        </p:nvSpPr>
        <p:spPr>
          <a:xfrm>
            <a:off x="9281160" y="3401568"/>
            <a:ext cx="1783080" cy="329184"/>
          </a:xfrm>
          <a:prstGeom prst="roundRect">
            <a:avLst>
              <a:gd name="adj" fmla="val 50000"/>
            </a:avLst>
          </a:prstGeom>
          <a:solidFill>
            <a:srgbClr val="F4F5F7"/>
          </a:solidFill>
          <a:ln w="12700">
            <a:solidFill>
              <a:srgbClr val="F4F5F7"/>
            </a:solidFill>
            <a:prstDash val="solid"/>
          </a:ln>
        </p:spPr>
      </p:sp>
      <p:sp>
        <p:nvSpPr>
          <p:cNvPr id="12" name="Text 10"/>
          <p:cNvSpPr/>
          <p:nvPr/>
        </p:nvSpPr>
        <p:spPr>
          <a:xfrm>
            <a:off x="9281160" y="3401568"/>
            <a:ext cx="1783080" cy="329184"/>
          </a:xfrm>
          <a:prstGeom prst="rect">
            <a:avLst/>
          </a:prstGeom>
          <a:noFill/>
          <a:ln/>
        </p:spPr>
        <p:txBody>
          <a:bodyPr wrap="square" lIns="0" tIns="0" rIns="0" bIns="0" rtlCol="0" anchor="ctr"/>
          <a:lstStyle/>
          <a:p>
            <a:pPr algn="ctr" indent="0" marL="0">
              <a:buNone/>
            </a:pPr>
            <a:r>
              <a:rPr lang="en-US" sz="1200" b="1" dirty="0">
                <a:solidFill>
                  <a:srgbClr val="6E6E73"/>
                </a:solidFill>
                <a:latin typeface="Helvetica Neue" pitchFamily="34" charset="0"/>
                <a:ea typeface="Helvetica Neue" pitchFamily="34" charset="-122"/>
                <a:cs typeface="Helvetica Neue" pitchFamily="34" charset="-120"/>
              </a:rPr>
              <a:t>Unknown</a:t>
            </a:r>
            <a:endParaRPr lang="en-US" sz="1200" dirty="0"/>
          </a:p>
        </p:txBody>
      </p:sp>
      <p:sp>
        <p:nvSpPr>
          <p:cNvPr id="13" name="Shape 11"/>
          <p:cNvSpPr/>
          <p:nvPr/>
        </p:nvSpPr>
        <p:spPr>
          <a:xfrm>
            <a:off x="960120" y="4096512"/>
            <a:ext cx="10268712" cy="9144"/>
          </a:xfrm>
          <a:prstGeom prst="rect">
            <a:avLst/>
          </a:prstGeom>
          <a:solidFill>
            <a:srgbClr val="D2D2D7"/>
          </a:solidFill>
          <a:ln w="12700">
            <a:solidFill>
              <a:srgbClr val="D2D2D7"/>
            </a:solidFill>
            <a:prstDash val="solid"/>
          </a:ln>
        </p:spPr>
      </p:sp>
      <p:sp>
        <p:nvSpPr>
          <p:cNvPr id="14" name="Text 12"/>
          <p:cNvSpPr/>
          <p:nvPr/>
        </p:nvSpPr>
        <p:spPr>
          <a:xfrm>
            <a:off x="960120" y="4352544"/>
            <a:ext cx="3017520" cy="50292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Defects</a:t>
            </a:r>
            <a:endParaRPr lang="en-US" sz="1800" dirty="0"/>
          </a:p>
        </p:txBody>
      </p:sp>
      <p:sp>
        <p:nvSpPr>
          <p:cNvPr id="15" name="Text 13"/>
          <p:cNvSpPr/>
          <p:nvPr/>
        </p:nvSpPr>
        <p:spPr>
          <a:xfrm>
            <a:off x="4023360" y="4352544"/>
            <a:ext cx="5029200" cy="50292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Stains show up in the box, after the purchase.</a:t>
            </a:r>
            <a:endParaRPr lang="en-US" sz="1600" dirty="0"/>
          </a:p>
        </p:txBody>
      </p:sp>
      <p:sp>
        <p:nvSpPr>
          <p:cNvPr id="16" name="Shape 14"/>
          <p:cNvSpPr/>
          <p:nvPr/>
        </p:nvSpPr>
        <p:spPr>
          <a:xfrm>
            <a:off x="9281160" y="4443984"/>
            <a:ext cx="1783080" cy="329184"/>
          </a:xfrm>
          <a:prstGeom prst="roundRect">
            <a:avLst>
              <a:gd name="adj" fmla="val 50000"/>
            </a:avLst>
          </a:prstGeom>
          <a:solidFill>
            <a:srgbClr val="F4F5F7"/>
          </a:solidFill>
          <a:ln w="12700">
            <a:solidFill>
              <a:srgbClr val="F4F5F7"/>
            </a:solidFill>
            <a:prstDash val="solid"/>
          </a:ln>
        </p:spPr>
      </p:sp>
      <p:sp>
        <p:nvSpPr>
          <p:cNvPr id="17" name="Text 15"/>
          <p:cNvSpPr/>
          <p:nvPr/>
        </p:nvSpPr>
        <p:spPr>
          <a:xfrm>
            <a:off x="9281160" y="4443984"/>
            <a:ext cx="1783080" cy="329184"/>
          </a:xfrm>
          <a:prstGeom prst="rect">
            <a:avLst/>
          </a:prstGeom>
          <a:noFill/>
          <a:ln/>
        </p:spPr>
        <p:txBody>
          <a:bodyPr wrap="square" lIns="0" tIns="0" rIns="0" bIns="0" rtlCol="0" anchor="ctr"/>
          <a:lstStyle/>
          <a:p>
            <a:pPr algn="ctr" indent="0" marL="0">
              <a:buNone/>
            </a:pPr>
            <a:r>
              <a:rPr lang="en-US" sz="1200" b="1" dirty="0">
                <a:solidFill>
                  <a:srgbClr val="6E6E73"/>
                </a:solidFill>
                <a:latin typeface="Helvetica Neue" pitchFamily="34" charset="0"/>
                <a:ea typeface="Helvetica Neue" pitchFamily="34" charset="-122"/>
                <a:cs typeface="Helvetica Neue" pitchFamily="34" charset="-120"/>
              </a:rPr>
              <a:t>Unknown</a:t>
            </a:r>
            <a:endParaRPr lang="en-US" sz="1200" dirty="0"/>
          </a:p>
        </p:txBody>
      </p:sp>
      <p:sp>
        <p:nvSpPr>
          <p:cNvPr id="18" name="Shape 16"/>
          <p:cNvSpPr/>
          <p:nvPr/>
        </p:nvSpPr>
        <p:spPr>
          <a:xfrm>
            <a:off x="960120" y="5138928"/>
            <a:ext cx="10268712" cy="9144"/>
          </a:xfrm>
          <a:prstGeom prst="rect">
            <a:avLst/>
          </a:prstGeom>
          <a:solidFill>
            <a:srgbClr val="D2D2D7"/>
          </a:solidFill>
          <a:ln w="12700">
            <a:solidFill>
              <a:srgbClr val="D2D2D7"/>
            </a:solidFill>
            <a:prstDash val="solid"/>
          </a:ln>
        </p:spPr>
      </p:sp>
      <p:sp>
        <p:nvSpPr>
          <p:cNvPr id="19" name="Text 17"/>
          <p:cNvSpPr/>
          <p:nvPr/>
        </p:nvSpPr>
        <p:spPr>
          <a:xfrm>
            <a:off x="960120" y="5394960"/>
            <a:ext cx="3017520" cy="50292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Shipping and duties</a:t>
            </a:r>
            <a:endParaRPr lang="en-US" sz="1800" dirty="0"/>
          </a:p>
        </p:txBody>
      </p:sp>
      <p:sp>
        <p:nvSpPr>
          <p:cNvPr id="20" name="Text 18"/>
          <p:cNvSpPr/>
          <p:nvPr/>
        </p:nvSpPr>
        <p:spPr>
          <a:xfrm>
            <a:off x="4023360" y="5394960"/>
            <a:ext cx="5029200" cy="50292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The cost is assumed when it was never stated.</a:t>
            </a:r>
            <a:endParaRPr lang="en-US" sz="1600" dirty="0"/>
          </a:p>
        </p:txBody>
      </p:sp>
      <p:sp>
        <p:nvSpPr>
          <p:cNvPr id="21" name="Shape 19"/>
          <p:cNvSpPr/>
          <p:nvPr/>
        </p:nvSpPr>
        <p:spPr>
          <a:xfrm>
            <a:off x="9281160" y="5486400"/>
            <a:ext cx="1783080" cy="329184"/>
          </a:xfrm>
          <a:prstGeom prst="roundRect">
            <a:avLst>
              <a:gd name="adj" fmla="val 50000"/>
            </a:avLst>
          </a:prstGeom>
          <a:solidFill>
            <a:srgbClr val="F4F5F7"/>
          </a:solidFill>
          <a:ln w="12700">
            <a:solidFill>
              <a:srgbClr val="F4F5F7"/>
            </a:solidFill>
            <a:prstDash val="solid"/>
          </a:ln>
        </p:spPr>
      </p:sp>
      <p:sp>
        <p:nvSpPr>
          <p:cNvPr id="22" name="Text 20"/>
          <p:cNvSpPr/>
          <p:nvPr/>
        </p:nvSpPr>
        <p:spPr>
          <a:xfrm>
            <a:off x="9281160" y="5486400"/>
            <a:ext cx="1783080" cy="329184"/>
          </a:xfrm>
          <a:prstGeom prst="rect">
            <a:avLst/>
          </a:prstGeom>
          <a:noFill/>
          <a:ln/>
        </p:spPr>
        <p:txBody>
          <a:bodyPr wrap="square" lIns="0" tIns="0" rIns="0" bIns="0" rtlCol="0" anchor="ctr"/>
          <a:lstStyle/>
          <a:p>
            <a:pPr algn="ctr" indent="0" marL="0">
              <a:buNone/>
            </a:pPr>
            <a:r>
              <a:rPr lang="en-US" sz="1200" b="1" dirty="0">
                <a:solidFill>
                  <a:srgbClr val="6E6E73"/>
                </a:solidFill>
                <a:latin typeface="Helvetica Neue" pitchFamily="34" charset="0"/>
                <a:ea typeface="Helvetica Neue" pitchFamily="34" charset="-122"/>
                <a:cs typeface="Helvetica Neue" pitchFamily="34" charset="-120"/>
              </a:rPr>
              <a:t>Unknown</a:t>
            </a:r>
            <a:endParaRPr lang="en-US" sz="1200" dirty="0"/>
          </a:p>
        </p:txBody>
      </p:sp>
      <p:sp>
        <p:nvSpPr>
          <p:cNvPr id="23" name="Text 21"/>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24" name="Text 22"/>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384048"/>
            <a:ext cx="10881360" cy="1234440"/>
          </a:xfrm>
          <a:prstGeom prst="rect">
            <a:avLst/>
          </a:prstGeom>
          <a:noFill/>
          <a:ln/>
        </p:spPr>
        <p:txBody>
          <a:bodyPr wrap="square" lIns="0" tIns="0" rIns="0" bIns="0" rtlCol="0" anchor="t"/>
          <a:lstStyle/>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The mismatch starts</a:t>
            </a:r>
            <a:endParaRPr lang="en-US" sz="3600" dirty="0"/>
          </a:p>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the story again.</a:t>
            </a:r>
            <a:endParaRPr lang="en-US" sz="3600" dirty="0"/>
          </a:p>
        </p:txBody>
      </p:sp>
      <p:sp>
        <p:nvSpPr>
          <p:cNvPr id="3" name="Shape 1"/>
          <p:cNvSpPr/>
          <p:nvPr/>
        </p:nvSpPr>
        <p:spPr>
          <a:xfrm>
            <a:off x="640080" y="1965960"/>
            <a:ext cx="6720840" cy="4160520"/>
          </a:xfrm>
          <a:prstGeom prst="roundRect">
            <a:avLst>
              <a:gd name="adj" fmla="val 1319"/>
            </a:avLst>
          </a:prstGeom>
          <a:solidFill>
            <a:srgbClr val="1D1D1F"/>
          </a:solidFill>
          <a:ln w="12700">
            <a:solidFill>
              <a:srgbClr val="1D1D1F"/>
            </a:solidFill>
            <a:prstDash val="solid"/>
          </a:ln>
        </p:spPr>
      </p:sp>
      <p:sp>
        <p:nvSpPr>
          <p:cNvPr id="4" name="Text 2"/>
          <p:cNvSpPr/>
          <p:nvPr/>
        </p:nvSpPr>
        <p:spPr>
          <a:xfrm>
            <a:off x="960120" y="2331720"/>
            <a:ext cx="6035040" cy="1645920"/>
          </a:xfrm>
          <a:prstGeom prst="rect">
            <a:avLst/>
          </a:prstGeom>
          <a:noFill/>
          <a:ln/>
        </p:spPr>
        <p:txBody>
          <a:bodyPr wrap="square" lIns="0" tIns="0" rIns="0" bIns="0" rtlCol="0" anchor="ctr"/>
          <a:lstStyle/>
          <a:p>
            <a:pPr indent="0" marL="0">
              <a:buNone/>
            </a:pPr>
            <a:r>
              <a:rPr lang="en-US" sz="3200" b="1" spc="-60" kern="0" dirty="0">
                <a:solidFill>
                  <a:srgbClr val="FFFFFF"/>
                </a:solidFill>
                <a:latin typeface="Helvetica Neue" pitchFamily="34" charset="0"/>
                <a:ea typeface="Helvetica Neue" pitchFamily="34" charset="-122"/>
                <a:cs typeface="Helvetica Neue" pitchFamily="34" charset="-120"/>
              </a:rPr>
              <a:t>The confirmed</a:t>
            </a:r>
            <a:endParaRPr lang="en-US" sz="3200" dirty="0"/>
          </a:p>
          <a:p>
            <a:pPr indent="0" marL="0">
              <a:buNone/>
            </a:pPr>
            <a:r>
              <a:rPr lang="en-US" sz="3200" b="1" spc="-60" kern="0" dirty="0">
                <a:solidFill>
                  <a:srgbClr val="FFFFFF"/>
                </a:solidFill>
                <a:latin typeface="Helvetica Neue" pitchFamily="34" charset="0"/>
                <a:ea typeface="Helvetica Neue" pitchFamily="34" charset="-122"/>
                <a:cs typeface="Helvetica Neue" pitchFamily="34" charset="-120"/>
              </a:rPr>
              <a:t>version is missing.</a:t>
            </a:r>
            <a:endParaRPr lang="en-US" sz="3200" dirty="0"/>
          </a:p>
        </p:txBody>
      </p:sp>
      <p:sp>
        <p:nvSpPr>
          <p:cNvPr id="5" name="Text 3"/>
          <p:cNvSpPr/>
          <p:nvPr/>
        </p:nvSpPr>
        <p:spPr>
          <a:xfrm>
            <a:off x="960120" y="4160520"/>
            <a:ext cx="5852160" cy="1371600"/>
          </a:xfrm>
          <a:prstGeom prst="rect">
            <a:avLst/>
          </a:prstGeom>
          <a:noFill/>
          <a:ln/>
        </p:spPr>
        <p:txBody>
          <a:bodyPr wrap="square" lIns="0" tIns="0" rIns="0" bIns="0" rtlCol="0" anchor="ctr"/>
          <a:lstStyle/>
          <a:p>
            <a:pPr indent="0" marL="0">
              <a:buNone/>
            </a:pPr>
            <a:r>
              <a:rPr lang="en-US" sz="1800" dirty="0">
                <a:solidFill>
                  <a:srgbClr val="C7C7CC"/>
                </a:solidFill>
                <a:latin typeface="Helvetica Neue" pitchFamily="34" charset="0"/>
                <a:ea typeface="Helvetica Neue" pitchFamily="34" charset="-122"/>
                <a:cs typeface="Helvetica Neue" pitchFamily="34" charset="-120"/>
              </a:rPr>
              <a:t>The buyer repeats what arrived. The reviewer does not have the listing the supplier stood behind before the purchase.</a:t>
            </a:r>
            <a:endParaRPr lang="en-US" sz="1800" dirty="0"/>
          </a:p>
        </p:txBody>
      </p:sp>
      <p:sp>
        <p:nvSpPr>
          <p:cNvPr id="6" name="Shape 4"/>
          <p:cNvSpPr/>
          <p:nvPr/>
        </p:nvSpPr>
        <p:spPr>
          <a:xfrm>
            <a:off x="7543800" y="1965960"/>
            <a:ext cx="4005072" cy="1965960"/>
          </a:xfrm>
          <a:prstGeom prst="roundRect">
            <a:avLst>
              <a:gd name="adj" fmla="val 2791"/>
            </a:avLst>
          </a:prstGeom>
          <a:solidFill>
            <a:srgbClr val="FFFFFF"/>
          </a:solidFill>
          <a:ln w="12700">
            <a:solidFill>
              <a:srgbClr val="D2D2D7"/>
            </a:solidFill>
            <a:prstDash val="solid"/>
          </a:ln>
          <a:effectLst>
            <a:outerShdw sx="100000" sy="100000" kx="0" ky="0" algn="bl" rotWithShape="0" blurRad="57354724000000" dist="20483830000000" dir="19440000000000000">
              <a:srgbClr val="000000">
                <a:alpha val="140000000000000"/>
              </a:srgbClr>
            </a:outerShdw>
          </a:effectLst>
        </p:spPr>
      </p:sp>
      <p:sp>
        <p:nvSpPr>
          <p:cNvPr id="7" name="Text 5"/>
          <p:cNvSpPr/>
          <p:nvPr/>
        </p:nvSpPr>
        <p:spPr>
          <a:xfrm>
            <a:off x="7790688" y="2176272"/>
            <a:ext cx="3520440" cy="822960"/>
          </a:xfrm>
          <a:prstGeom prst="rect">
            <a:avLst/>
          </a:prstGeom>
          <a:noFill/>
          <a:ln/>
        </p:spPr>
        <p:txBody>
          <a:bodyPr wrap="square" lIns="0" tIns="0" rIns="0" bIns="0" rtlCol="0" anchor="ctr"/>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The buyer</a:t>
            </a:r>
            <a:endParaRPr lang="en-US" sz="2000" dirty="0"/>
          </a:p>
          <a:p>
            <a:pPr indent="0" marL="0">
              <a:buNone/>
            </a:pPr>
            <a:r>
              <a:rPr lang="en-US" sz="2000" b="1" dirty="0">
                <a:solidFill>
                  <a:srgbClr val="1D1D1F"/>
                </a:solidFill>
                <a:latin typeface="Helvetica Neue" pitchFamily="34" charset="0"/>
                <a:ea typeface="Helvetica Neue" pitchFamily="34" charset="-122"/>
                <a:cs typeface="Helvetica Neue" pitchFamily="34" charset="-120"/>
              </a:rPr>
              <a:t>retells the lot.</a:t>
            </a:r>
            <a:endParaRPr lang="en-US" sz="2000" dirty="0"/>
          </a:p>
        </p:txBody>
      </p:sp>
      <p:sp>
        <p:nvSpPr>
          <p:cNvPr id="8" name="Text 6"/>
          <p:cNvSpPr/>
          <p:nvPr/>
        </p:nvSpPr>
        <p:spPr>
          <a:xfrm>
            <a:off x="7790688" y="3090672"/>
            <a:ext cx="3520440" cy="594360"/>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Order, difference, and photos are gathered again.</a:t>
            </a:r>
            <a:endParaRPr lang="en-US" sz="1500" dirty="0"/>
          </a:p>
        </p:txBody>
      </p:sp>
      <p:sp>
        <p:nvSpPr>
          <p:cNvPr id="9" name="Shape 7"/>
          <p:cNvSpPr/>
          <p:nvPr/>
        </p:nvSpPr>
        <p:spPr>
          <a:xfrm>
            <a:off x="7543800" y="4114800"/>
            <a:ext cx="4005072" cy="2011680"/>
          </a:xfrm>
          <a:prstGeom prst="roundRect">
            <a:avLst>
              <a:gd name="adj" fmla="val 2727"/>
            </a:avLst>
          </a:prstGeom>
          <a:solidFill>
            <a:srgbClr val="FFFFFF"/>
          </a:solidFill>
          <a:ln w="12700">
            <a:solidFill>
              <a:srgbClr val="D2D2D7"/>
            </a:solidFill>
            <a:prstDash val="solid"/>
          </a:ln>
          <a:effectLst>
            <a:outerShdw sx="100000" sy="100000" kx="0" ky="0" algn="bl" rotWithShape="0" blurRad="728404994800000000" dist="260144641000000000" dir="1.1664e+21">
              <a:srgbClr val="000000">
                <a:alpha val="14000000000000000000"/>
              </a:srgbClr>
            </a:outerShdw>
          </a:effectLst>
        </p:spPr>
      </p:sp>
      <p:sp>
        <p:nvSpPr>
          <p:cNvPr id="10" name="Text 8"/>
          <p:cNvSpPr/>
          <p:nvPr/>
        </p:nvSpPr>
        <p:spPr>
          <a:xfrm>
            <a:off x="7790688" y="4315968"/>
            <a:ext cx="3520440" cy="822960"/>
          </a:xfrm>
          <a:prstGeom prst="rect">
            <a:avLst/>
          </a:prstGeom>
          <a:noFill/>
          <a:ln/>
        </p:spPr>
        <p:txBody>
          <a:bodyPr wrap="square" lIns="0" tIns="0" rIns="0" bIns="0" rtlCol="0" anchor="ctr"/>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The reviewer</a:t>
            </a:r>
            <a:endParaRPr lang="en-US" sz="2000" dirty="0"/>
          </a:p>
          <a:p>
            <a:pPr indent="0" marL="0">
              <a:buNone/>
            </a:pPr>
            <a:r>
              <a:rPr lang="en-US" sz="2000" b="1" dirty="0">
                <a:solidFill>
                  <a:srgbClr val="1D1D1F"/>
                </a:solidFill>
                <a:latin typeface="Helvetica Neue" pitchFamily="34" charset="0"/>
                <a:ea typeface="Helvetica Neue" pitchFamily="34" charset="-122"/>
                <a:cs typeface="Helvetica Neue" pitchFamily="34" charset="-120"/>
              </a:rPr>
              <a:t>decides without it.</a:t>
            </a:r>
            <a:endParaRPr lang="en-US" sz="2000" dirty="0"/>
          </a:p>
        </p:txBody>
      </p:sp>
      <p:sp>
        <p:nvSpPr>
          <p:cNvPr id="11" name="Text 9"/>
          <p:cNvSpPr/>
          <p:nvPr/>
        </p:nvSpPr>
        <p:spPr>
          <a:xfrm>
            <a:off x="7790688" y="5212080"/>
            <a:ext cx="3520440" cy="685800"/>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Nothing on the page shows what was known, and what stayed unknown.</a:t>
            </a:r>
            <a:endParaRPr lang="en-US" sz="1500" dirty="0"/>
          </a:p>
        </p:txBody>
      </p:sp>
      <p:sp>
        <p:nvSpPr>
          <p:cNvPr id="12" name="Text 10"/>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13" name="Text 11"/>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777240" y="1325880"/>
            <a:ext cx="10424160" cy="640080"/>
          </a:xfrm>
          <a:prstGeom prst="rect">
            <a:avLst/>
          </a:prstGeom>
          <a:noFill/>
          <a:ln/>
        </p:spPr>
        <p:txBody>
          <a:bodyPr wrap="square" lIns="0" tIns="0" rIns="0" bIns="0" rtlCol="0" anchor="ctr"/>
          <a:lstStyle/>
          <a:p>
            <a:pPr indent="0" marL="0">
              <a:buNone/>
            </a:pPr>
            <a:r>
              <a:rPr lang="en-US" sz="3200" b="1" dirty="0">
                <a:solidFill>
                  <a:srgbClr val="1D1D1F"/>
                </a:solidFill>
                <a:latin typeface="Helvetica Neue" pitchFamily="34" charset="0"/>
                <a:ea typeface="Helvetica Neue" pitchFamily="34" charset="-122"/>
                <a:cs typeface="Helvetica Neue" pitchFamily="34" charset="-120"/>
              </a:rPr>
              <a:t>FleekFlow helps a supplier</a:t>
            </a:r>
            <a:endParaRPr lang="en-US" sz="3200" dirty="0"/>
          </a:p>
        </p:txBody>
      </p:sp>
      <p:sp>
        <p:nvSpPr>
          <p:cNvPr id="3" name="Shape 1"/>
          <p:cNvSpPr/>
          <p:nvPr/>
        </p:nvSpPr>
        <p:spPr>
          <a:xfrm>
            <a:off x="713232" y="2084832"/>
            <a:ext cx="8732520" cy="713232"/>
          </a:xfrm>
          <a:prstGeom prst="roundRect">
            <a:avLst>
              <a:gd name="adj" fmla="val 10256"/>
            </a:avLst>
          </a:prstGeom>
          <a:solidFill>
            <a:srgbClr val="F8C040"/>
          </a:solidFill>
          <a:ln w="12700">
            <a:solidFill>
              <a:srgbClr val="F8C040"/>
            </a:solidFill>
            <a:prstDash val="solid"/>
          </a:ln>
        </p:spPr>
      </p:sp>
      <p:sp>
        <p:nvSpPr>
          <p:cNvPr id="4" name="Text 2"/>
          <p:cNvSpPr/>
          <p:nvPr/>
        </p:nvSpPr>
        <p:spPr>
          <a:xfrm>
            <a:off x="896112" y="2084832"/>
            <a:ext cx="8412480" cy="713232"/>
          </a:xfrm>
          <a:prstGeom prst="rect">
            <a:avLst/>
          </a:prstGeom>
          <a:noFill/>
          <a:ln/>
        </p:spPr>
        <p:txBody>
          <a:bodyPr wrap="square" lIns="0" tIns="0" rIns="0" bIns="0" rtlCol="0" anchor="ctr"/>
          <a:lstStyle/>
          <a:p>
            <a:pPr indent="0" marL="0">
              <a:buNone/>
            </a:pPr>
            <a:r>
              <a:rPr lang="en-US" sz="2800" b="1" dirty="0">
                <a:solidFill>
                  <a:srgbClr val="1D1D1F"/>
                </a:solidFill>
                <a:latin typeface="Helvetica Neue" pitchFamily="34" charset="0"/>
                <a:ea typeface="Helvetica Neue" pitchFamily="34" charset="-122"/>
                <a:cs typeface="Helvetica Neue" pitchFamily="34" charset="-120"/>
              </a:rPr>
              <a:t>finish a wholesale lot in conversation,</a:t>
            </a:r>
            <a:endParaRPr lang="en-US" sz="2800" dirty="0"/>
          </a:p>
        </p:txBody>
      </p:sp>
      <p:sp>
        <p:nvSpPr>
          <p:cNvPr id="5" name="Text 3"/>
          <p:cNvSpPr/>
          <p:nvPr/>
        </p:nvSpPr>
        <p:spPr>
          <a:xfrm>
            <a:off x="777240" y="2971800"/>
            <a:ext cx="10241280" cy="1554480"/>
          </a:xfrm>
          <a:prstGeom prst="rect">
            <a:avLst/>
          </a:prstGeom>
          <a:noFill/>
          <a:ln/>
        </p:spPr>
        <p:txBody>
          <a:bodyPr wrap="square" lIns="0" tIns="0" rIns="0" bIns="0" rtlCol="0" anchor="ctr"/>
          <a:lstStyle/>
          <a:p>
            <a:pPr indent="0" marL="0">
              <a:buNone/>
            </a:pPr>
            <a:r>
              <a:rPr lang="en-US" sz="3200" b="1" dirty="0">
                <a:solidFill>
                  <a:srgbClr val="1D1D1F"/>
                </a:solidFill>
                <a:latin typeface="Helvetica Neue" pitchFamily="34" charset="0"/>
                <a:ea typeface="Helvetica Neue" pitchFamily="34" charset="-122"/>
                <a:cs typeface="Helvetica Neue" pitchFamily="34" charset="-120"/>
              </a:rPr>
              <a:t>then keeps that confirmed record for the buyer’s decision and for any later mismatch.</a:t>
            </a:r>
            <a:endParaRPr lang="en-US" sz="3200" dirty="0"/>
          </a:p>
        </p:txBody>
      </p:sp>
      <p:sp>
        <p:nvSpPr>
          <p:cNvPr id="6" name="Text 4"/>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7" name="Text 5"/>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347472"/>
            <a:ext cx="10881360" cy="1188720"/>
          </a:xfrm>
          <a:prstGeom prst="rect">
            <a:avLst/>
          </a:prstGeom>
          <a:noFill/>
          <a:ln/>
        </p:spPr>
        <p:txBody>
          <a:bodyPr wrap="square" lIns="0" tIns="0" rIns="0" bIns="0" rtlCol="0" anchor="t"/>
          <a:lstStyle/>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Three people read</a:t>
            </a:r>
            <a:endParaRPr lang="en-US" sz="3600" dirty="0"/>
          </a:p>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the same record.</a:t>
            </a:r>
            <a:endParaRPr lang="en-US" sz="3600" dirty="0"/>
          </a:p>
        </p:txBody>
      </p:sp>
      <p:sp>
        <p:nvSpPr>
          <p:cNvPr id="3" name="Shape 1"/>
          <p:cNvSpPr/>
          <p:nvPr/>
        </p:nvSpPr>
        <p:spPr>
          <a:xfrm>
            <a:off x="640080" y="1828800"/>
            <a:ext cx="6903720" cy="4297680"/>
          </a:xfrm>
          <a:prstGeom prst="roundRect">
            <a:avLst>
              <a:gd name="adj" fmla="val 1277"/>
            </a:avLst>
          </a:prstGeom>
          <a:solidFill>
            <a:srgbClr val="FFFFFF"/>
          </a:solidFill>
          <a:ln w="12700">
            <a:solidFill>
              <a:srgbClr val="D2D2D7"/>
            </a:solidFill>
            <a:prstDash val="solid"/>
          </a:ln>
          <a:effectLst>
            <a:outerShdw sx="100000" sy="100000" kx="0" ky="0" algn="bl" rotWithShape="0" blurRad="9.25074343396e+21" dist="3.3038369407e+21" dir="6.9984e+25">
              <a:srgbClr val="000000">
                <a:alpha val="1.4e+24"/>
              </a:srgbClr>
            </a:outerShdw>
          </a:effectLst>
        </p:spPr>
      </p:sp>
      <p:sp>
        <p:nvSpPr>
          <p:cNvPr id="4" name="Text 2"/>
          <p:cNvSpPr/>
          <p:nvPr/>
        </p:nvSpPr>
        <p:spPr>
          <a:xfrm>
            <a:off x="960120" y="2029968"/>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Shop</a:t>
            </a:r>
            <a:endParaRPr lang="en-US" sz="1500" dirty="0"/>
          </a:p>
        </p:txBody>
      </p:sp>
      <p:sp>
        <p:nvSpPr>
          <p:cNvPr id="5" name="Text 3"/>
          <p:cNvSpPr/>
          <p:nvPr/>
        </p:nvSpPr>
        <p:spPr>
          <a:xfrm>
            <a:off x="3291840" y="2029968"/>
            <a:ext cx="3931920" cy="530352"/>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CoCreate Hub, United Kingdom</a:t>
            </a:r>
            <a:endParaRPr lang="en-US" sz="1500" dirty="0"/>
          </a:p>
        </p:txBody>
      </p:sp>
      <p:sp>
        <p:nvSpPr>
          <p:cNvPr id="6" name="Text 4"/>
          <p:cNvSpPr/>
          <p:nvPr/>
        </p:nvSpPr>
        <p:spPr>
          <a:xfrm>
            <a:off x="960120" y="2688336"/>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Quantity</a:t>
            </a:r>
            <a:endParaRPr lang="en-US" sz="1500" dirty="0"/>
          </a:p>
        </p:txBody>
      </p:sp>
      <p:sp>
        <p:nvSpPr>
          <p:cNvPr id="7" name="Text 5"/>
          <p:cNvSpPr/>
          <p:nvPr/>
        </p:nvSpPr>
        <p:spPr>
          <a:xfrm>
            <a:off x="3291840" y="2688336"/>
            <a:ext cx="3931920" cy="530352"/>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18 confirmed</a:t>
            </a:r>
            <a:endParaRPr lang="en-US" sz="1500" dirty="0"/>
          </a:p>
        </p:txBody>
      </p:sp>
      <p:sp>
        <p:nvSpPr>
          <p:cNvPr id="8" name="Text 6"/>
          <p:cNvSpPr/>
          <p:nvPr/>
        </p:nvSpPr>
        <p:spPr>
          <a:xfrm>
            <a:off x="960120" y="3346704"/>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Sizes</a:t>
            </a:r>
            <a:endParaRPr lang="en-US" sz="1500" dirty="0"/>
          </a:p>
        </p:txBody>
      </p:sp>
      <p:sp>
        <p:nvSpPr>
          <p:cNvPr id="9" name="Text 7"/>
          <p:cNvSpPr/>
          <p:nvPr/>
        </p:nvSpPr>
        <p:spPr>
          <a:xfrm>
            <a:off x="3291840" y="3346704"/>
            <a:ext cx="3931920" cy="530352"/>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Mostly S, M and L</a:t>
            </a:r>
            <a:endParaRPr lang="en-US" sz="1500" dirty="0"/>
          </a:p>
        </p:txBody>
      </p:sp>
      <p:sp>
        <p:nvSpPr>
          <p:cNvPr id="10" name="Text 8"/>
          <p:cNvSpPr/>
          <p:nvPr/>
        </p:nvSpPr>
        <p:spPr>
          <a:xfrm>
            <a:off x="960120" y="4005072"/>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Defects</a:t>
            </a:r>
            <a:endParaRPr lang="en-US" sz="1500" dirty="0"/>
          </a:p>
        </p:txBody>
      </p:sp>
      <p:sp>
        <p:nvSpPr>
          <p:cNvPr id="11" name="Text 9"/>
          <p:cNvSpPr/>
          <p:nvPr/>
        </p:nvSpPr>
        <p:spPr>
          <a:xfrm>
            <a:off x="3291840" y="4005072"/>
            <a:ext cx="3931920" cy="530352"/>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Two pieces, small stains</a:t>
            </a:r>
            <a:endParaRPr lang="en-US" sz="1500" dirty="0"/>
          </a:p>
        </p:txBody>
      </p:sp>
      <p:sp>
        <p:nvSpPr>
          <p:cNvPr id="12" name="Text 10"/>
          <p:cNvSpPr/>
          <p:nvPr/>
        </p:nvSpPr>
        <p:spPr>
          <a:xfrm>
            <a:off x="960120" y="4663440"/>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Subtotal</a:t>
            </a:r>
            <a:endParaRPr lang="en-US" sz="1500" dirty="0"/>
          </a:p>
        </p:txBody>
      </p:sp>
      <p:sp>
        <p:nvSpPr>
          <p:cNvPr id="13" name="Text 11"/>
          <p:cNvSpPr/>
          <p:nvPr/>
        </p:nvSpPr>
        <p:spPr>
          <a:xfrm>
            <a:off x="3291840" y="4663440"/>
            <a:ext cx="3931920" cy="530352"/>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£144 before shipping</a:t>
            </a:r>
            <a:endParaRPr lang="en-US" sz="1500" dirty="0"/>
          </a:p>
        </p:txBody>
      </p:sp>
      <p:sp>
        <p:nvSpPr>
          <p:cNvPr id="14" name="Text 12"/>
          <p:cNvSpPr/>
          <p:nvPr/>
        </p:nvSpPr>
        <p:spPr>
          <a:xfrm>
            <a:off x="960120" y="5321808"/>
            <a:ext cx="2286000" cy="530352"/>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Shipping and duties</a:t>
            </a:r>
            <a:endParaRPr lang="en-US" sz="1500" dirty="0"/>
          </a:p>
        </p:txBody>
      </p:sp>
      <p:sp>
        <p:nvSpPr>
          <p:cNvPr id="15" name="Text 13"/>
          <p:cNvSpPr/>
          <p:nvPr/>
        </p:nvSpPr>
        <p:spPr>
          <a:xfrm>
            <a:off x="3291840" y="5321808"/>
            <a:ext cx="3931920" cy="530352"/>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Unknown</a:t>
            </a:r>
            <a:endParaRPr lang="en-US" sz="1500" dirty="0"/>
          </a:p>
        </p:txBody>
      </p:sp>
      <p:sp>
        <p:nvSpPr>
          <p:cNvPr id="16" name="Shape 14"/>
          <p:cNvSpPr/>
          <p:nvPr/>
        </p:nvSpPr>
        <p:spPr>
          <a:xfrm>
            <a:off x="7726680" y="1828800"/>
            <a:ext cx="3822192" cy="2011680"/>
          </a:xfrm>
          <a:prstGeom prst="roundRect">
            <a:avLst>
              <a:gd name="adj" fmla="val 2727"/>
            </a:avLst>
          </a:prstGeom>
          <a:solidFill>
            <a:srgbClr val="FFFFFF"/>
          </a:solidFill>
          <a:ln w="12700">
            <a:solidFill>
              <a:srgbClr val="D2D2D7"/>
            </a:solidFill>
            <a:prstDash val="solid"/>
          </a:ln>
          <a:effectLst>
            <a:outerShdw sx="100000" sy="100000" kx="0" ky="0" algn="bl" rotWithShape="0" blurRad="1.17484441611292e+26" dist="4.1958729146890005e+25" dir="4.19904e+30">
              <a:srgbClr val="000000">
                <a:alpha val="1.4000000000000002e+29"/>
              </a:srgbClr>
            </a:outerShdw>
          </a:effectLst>
        </p:spPr>
      </p:sp>
      <p:sp>
        <p:nvSpPr>
          <p:cNvPr id="17" name="Text 15"/>
          <p:cNvSpPr/>
          <p:nvPr/>
        </p:nvSpPr>
        <p:spPr>
          <a:xfrm>
            <a:off x="7973568" y="2084832"/>
            <a:ext cx="3383280" cy="868680"/>
          </a:xfrm>
          <a:prstGeom prst="rect">
            <a:avLst/>
          </a:prstGeom>
          <a:noFill/>
          <a:ln/>
        </p:spPr>
        <p:txBody>
          <a:bodyPr wrap="square" lIns="0" tIns="0" rIns="0" bIns="0" rtlCol="0" anchor="ctr"/>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The supplier</a:t>
            </a:r>
            <a:endParaRPr lang="en-US" sz="2000" dirty="0"/>
          </a:p>
          <a:p>
            <a:pPr indent="0" marL="0">
              <a:buNone/>
            </a:pPr>
            <a:r>
              <a:rPr lang="en-US" sz="2000" b="1" dirty="0">
                <a:solidFill>
                  <a:srgbClr val="1D1D1F"/>
                </a:solidFill>
                <a:latin typeface="Helvetica Neue" pitchFamily="34" charset="0"/>
                <a:ea typeface="Helvetica Neue" pitchFamily="34" charset="-122"/>
                <a:cs typeface="Helvetica Neue" pitchFamily="34" charset="-120"/>
              </a:rPr>
              <a:t>says it and confirms it.</a:t>
            </a:r>
            <a:endParaRPr lang="en-US" sz="2000" dirty="0"/>
          </a:p>
        </p:txBody>
      </p:sp>
      <p:sp>
        <p:nvSpPr>
          <p:cNvPr id="18" name="Text 16"/>
          <p:cNvSpPr/>
          <p:nvPr/>
        </p:nvSpPr>
        <p:spPr>
          <a:xfrm>
            <a:off x="7973568" y="3108960"/>
            <a:ext cx="3383280" cy="411480"/>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Confirmation is an explicit act.</a:t>
            </a:r>
            <a:endParaRPr lang="en-US" sz="1500" dirty="0"/>
          </a:p>
        </p:txBody>
      </p:sp>
      <p:sp>
        <p:nvSpPr>
          <p:cNvPr id="19" name="Shape 17"/>
          <p:cNvSpPr/>
          <p:nvPr/>
        </p:nvSpPr>
        <p:spPr>
          <a:xfrm>
            <a:off x="7726680" y="4023360"/>
            <a:ext cx="3822192" cy="2103120"/>
          </a:xfrm>
          <a:prstGeom prst="roundRect">
            <a:avLst>
              <a:gd name="adj" fmla="val 2609"/>
            </a:avLst>
          </a:prstGeom>
          <a:solidFill>
            <a:srgbClr val="FFFFFF"/>
          </a:solidFill>
          <a:ln w="12700">
            <a:solidFill>
              <a:srgbClr val="D2D2D7"/>
            </a:solidFill>
            <a:prstDash val="solid"/>
          </a:ln>
          <a:effectLst>
            <a:outerShdw sx="100000" sy="100000" kx="0" ky="0" algn="bl" rotWithShape="0" blurRad="1.4920524084634083e+30" dist="5.328758601655031e+29" dir="2.519424e+35">
              <a:srgbClr val="000000">
                <a:alpha val="1.4000000000000003e+34"/>
              </a:srgbClr>
            </a:outerShdw>
          </a:effectLst>
        </p:spPr>
      </p:sp>
      <p:sp>
        <p:nvSpPr>
          <p:cNvPr id="20" name="Text 18"/>
          <p:cNvSpPr/>
          <p:nvPr/>
        </p:nvSpPr>
        <p:spPr>
          <a:xfrm>
            <a:off x="7973568" y="4242816"/>
            <a:ext cx="3383280" cy="868680"/>
          </a:xfrm>
          <a:prstGeom prst="rect">
            <a:avLst/>
          </a:prstGeom>
          <a:noFill/>
          <a:ln/>
        </p:spPr>
        <p:txBody>
          <a:bodyPr wrap="square" lIns="0" tIns="0" rIns="0" bIns="0" rtlCol="0" anchor="ctr"/>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The buyer and the</a:t>
            </a:r>
            <a:endParaRPr lang="en-US" sz="2000" dirty="0"/>
          </a:p>
          <a:p>
            <a:pPr indent="0" marL="0">
              <a:buNone/>
            </a:pPr>
            <a:r>
              <a:rPr lang="en-US" sz="2000" b="1" dirty="0">
                <a:solidFill>
                  <a:srgbClr val="1D1D1F"/>
                </a:solidFill>
                <a:latin typeface="Helvetica Neue" pitchFamily="34" charset="0"/>
                <a:ea typeface="Helvetica Neue" pitchFamily="34" charset="-122"/>
                <a:cs typeface="Helvetica Neue" pitchFamily="34" charset="-120"/>
              </a:rPr>
              <a:t>reviewer read this page.</a:t>
            </a:r>
            <a:endParaRPr lang="en-US" sz="2000" dirty="0"/>
          </a:p>
        </p:txBody>
      </p:sp>
      <p:sp>
        <p:nvSpPr>
          <p:cNvPr id="21" name="Text 19"/>
          <p:cNvSpPr/>
          <p:nvPr/>
        </p:nvSpPr>
        <p:spPr>
          <a:xfrm>
            <a:off x="7973568" y="5212080"/>
            <a:ext cx="3337560" cy="640080"/>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If the box differs, a person reviews the report and the photos.</a:t>
            </a:r>
            <a:endParaRPr lang="en-US" sz="1500" dirty="0"/>
          </a:p>
        </p:txBody>
      </p:sp>
      <p:sp>
        <p:nvSpPr>
          <p:cNvPr id="22" name="Text 20"/>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23" name="Text 21"/>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329184"/>
            <a:ext cx="7315200" cy="502920"/>
          </a:xfrm>
          <a:prstGeom prst="rect">
            <a:avLst/>
          </a:prstGeom>
          <a:noFill/>
          <a:ln/>
        </p:spPr>
        <p:txBody>
          <a:bodyPr wrap="square" lIns="0" tIns="0" rIns="0" bIns="0" rtlCol="0" anchor="ctr"/>
          <a:lstStyle/>
          <a:p>
            <a:pPr indent="0" marL="0">
              <a:buNone/>
            </a:pPr>
            <a:r>
              <a:rPr lang="en-US" sz="3200" b="1" spc="-60" kern="0" dirty="0">
                <a:solidFill>
                  <a:srgbClr val="1D1D1F"/>
                </a:solidFill>
                <a:latin typeface="Helvetica Neue" pitchFamily="34" charset="0"/>
                <a:ea typeface="Helvetica Neue" pitchFamily="34" charset="-122"/>
                <a:cs typeface="Helvetica Neue" pitchFamily="34" charset="-120"/>
              </a:rPr>
              <a:t>CoCreate Hub, one lot.</a:t>
            </a:r>
            <a:endParaRPr lang="en-US" sz="3200" dirty="0"/>
          </a:p>
        </p:txBody>
      </p:sp>
      <p:sp>
        <p:nvSpPr>
          <p:cNvPr id="3" name="Shape 1"/>
          <p:cNvSpPr/>
          <p:nvPr/>
        </p:nvSpPr>
        <p:spPr>
          <a:xfrm>
            <a:off x="640080" y="1051560"/>
            <a:ext cx="5623560" cy="5074920"/>
          </a:xfrm>
          <a:prstGeom prst="roundRect">
            <a:avLst>
              <a:gd name="adj" fmla="val 1081"/>
            </a:avLst>
          </a:prstGeom>
          <a:solidFill>
            <a:srgbClr val="FFFFFF"/>
          </a:solidFill>
          <a:ln w="12700">
            <a:solidFill>
              <a:srgbClr val="D2D2D7"/>
            </a:solidFill>
            <a:prstDash val="solid"/>
          </a:ln>
          <a:effectLst>
            <a:outerShdw sx="100000" sy="100000" kx="0" ky="0" algn="bl" rotWithShape="0" blurRad="1.8949065587485285e+34" dist="6.767523424101889e+33" dir="1.5116544e+40">
              <a:srgbClr val="000000">
                <a:alpha val="1.4000000000000003e+39"/>
              </a:srgbClr>
            </a:outerShdw>
          </a:effectLst>
        </p:spPr>
      </p:sp>
      <p:sp>
        <p:nvSpPr>
          <p:cNvPr id="4" name="Text 2"/>
          <p:cNvSpPr/>
          <p:nvPr/>
        </p:nvSpPr>
        <p:spPr>
          <a:xfrm>
            <a:off x="896112" y="1207008"/>
            <a:ext cx="2743200" cy="329184"/>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Wassist</a:t>
            </a:r>
            <a:endParaRPr lang="en-US" sz="1800" dirty="0"/>
          </a:p>
        </p:txBody>
      </p:sp>
      <p:sp>
        <p:nvSpPr>
          <p:cNvPr id="5" name="Shape 3"/>
          <p:cNvSpPr/>
          <p:nvPr/>
        </p:nvSpPr>
        <p:spPr>
          <a:xfrm>
            <a:off x="896112" y="1664208"/>
            <a:ext cx="5074920" cy="1051560"/>
          </a:xfrm>
          <a:prstGeom prst="roundRect">
            <a:avLst>
              <a:gd name="adj" fmla="val 10435"/>
            </a:avLst>
          </a:prstGeom>
          <a:solidFill>
            <a:srgbClr val="F4F5F7"/>
          </a:solidFill>
          <a:ln w="12700">
            <a:solidFill>
              <a:srgbClr val="F4F5F7"/>
            </a:solidFill>
            <a:prstDash val="solid"/>
          </a:ln>
        </p:spPr>
      </p:sp>
      <p:sp>
        <p:nvSpPr>
          <p:cNvPr id="6" name="Text 4"/>
          <p:cNvSpPr/>
          <p:nvPr/>
        </p:nvSpPr>
        <p:spPr>
          <a:xfrm>
            <a:off x="1060704" y="1664208"/>
            <a:ext cx="4754880" cy="1051560"/>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CoCreate Hub, United Kingdom. 20 women’s blue shirts, unbranded, £8 each.</a:t>
            </a:r>
            <a:endParaRPr lang="en-US" sz="1500" dirty="0"/>
          </a:p>
        </p:txBody>
      </p:sp>
      <p:sp>
        <p:nvSpPr>
          <p:cNvPr id="7" name="Shape 5"/>
          <p:cNvSpPr/>
          <p:nvPr/>
        </p:nvSpPr>
        <p:spPr>
          <a:xfrm>
            <a:off x="896112" y="3017520"/>
            <a:ext cx="5074920" cy="1051560"/>
          </a:xfrm>
          <a:prstGeom prst="roundRect">
            <a:avLst>
              <a:gd name="adj" fmla="val 10435"/>
            </a:avLst>
          </a:prstGeom>
          <a:solidFill>
            <a:srgbClr val="F4F5F7"/>
          </a:solidFill>
          <a:ln w="12700">
            <a:solidFill>
              <a:srgbClr val="F4F5F7"/>
            </a:solidFill>
            <a:prstDash val="solid"/>
          </a:ln>
        </p:spPr>
      </p:sp>
      <p:sp>
        <p:nvSpPr>
          <p:cNvPr id="8" name="Text 6"/>
          <p:cNvSpPr/>
          <p:nvPr/>
        </p:nvSpPr>
        <p:spPr>
          <a:xfrm>
            <a:off x="1060704" y="3017520"/>
            <a:ext cx="4754880" cy="1051560"/>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Mostly S, M and L. I counted 18, not 20.</a:t>
            </a:r>
            <a:endParaRPr lang="en-US" sz="1500" dirty="0"/>
          </a:p>
        </p:txBody>
      </p:sp>
      <p:sp>
        <p:nvSpPr>
          <p:cNvPr id="9" name="Shape 7"/>
          <p:cNvSpPr/>
          <p:nvPr/>
        </p:nvSpPr>
        <p:spPr>
          <a:xfrm>
            <a:off x="896112" y="4370832"/>
            <a:ext cx="5074920" cy="1051560"/>
          </a:xfrm>
          <a:prstGeom prst="roundRect">
            <a:avLst>
              <a:gd name="adj" fmla="val 10435"/>
            </a:avLst>
          </a:prstGeom>
          <a:solidFill>
            <a:srgbClr val="F4F5F7"/>
          </a:solidFill>
          <a:ln w="12700">
            <a:solidFill>
              <a:srgbClr val="F4F5F7"/>
            </a:solidFill>
            <a:prstDash val="solid"/>
          </a:ln>
        </p:spPr>
      </p:sp>
      <p:sp>
        <p:nvSpPr>
          <p:cNvPr id="10" name="Text 8"/>
          <p:cNvSpPr/>
          <p:nvPr/>
        </p:nvSpPr>
        <p:spPr>
          <a:xfrm>
            <a:off x="1060704" y="4370832"/>
            <a:ext cx="4754880" cy="1051560"/>
          </a:xfrm>
          <a:prstGeom prst="rect">
            <a:avLst/>
          </a:prstGeom>
          <a:noFill/>
          <a:ln/>
        </p:spPr>
        <p:txBody>
          <a:bodyPr wrap="square" lIns="0" tIns="0" rIns="0" bIns="0" rtlCol="0" anchor="ctr"/>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18 is correct. Two pieces have small stains.</a:t>
            </a:r>
            <a:endParaRPr lang="en-US" sz="1500" dirty="0"/>
          </a:p>
        </p:txBody>
      </p:sp>
      <p:sp>
        <p:nvSpPr>
          <p:cNvPr id="11" name="Shape 9"/>
          <p:cNvSpPr/>
          <p:nvPr/>
        </p:nvSpPr>
        <p:spPr>
          <a:xfrm>
            <a:off x="6446520" y="1051560"/>
            <a:ext cx="5102352" cy="5074920"/>
          </a:xfrm>
          <a:prstGeom prst="roundRect">
            <a:avLst>
              <a:gd name="adj" fmla="val 1081"/>
            </a:avLst>
          </a:prstGeom>
          <a:solidFill>
            <a:srgbClr val="FFFFFF"/>
          </a:solidFill>
          <a:ln w="12700">
            <a:solidFill>
              <a:srgbClr val="D2D2D7"/>
            </a:solidFill>
            <a:prstDash val="solid"/>
          </a:ln>
          <a:effectLst>
            <a:outerShdw sx="100000" sy="100000" kx="0" ky="0" algn="bl" rotWithShape="0" blurRad="2.4065313296106312e+38" dist="8.594754748609398e+37" dir="9.069926400000001e+44">
              <a:srgbClr val="000000">
                <a:alpha val="1.4000000000000002e+44"/>
              </a:srgbClr>
            </a:outerShdw>
          </a:effectLst>
        </p:spPr>
      </p:sp>
      <p:sp>
        <p:nvSpPr>
          <p:cNvPr id="12" name="Text 10"/>
          <p:cNvSpPr/>
          <p:nvPr/>
        </p:nvSpPr>
        <p:spPr>
          <a:xfrm>
            <a:off x="6720840" y="1234440"/>
            <a:ext cx="3840480" cy="310896"/>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Upload products</a:t>
            </a:r>
            <a:endParaRPr lang="en-US" sz="1800" dirty="0"/>
          </a:p>
        </p:txBody>
      </p:sp>
      <p:sp>
        <p:nvSpPr>
          <p:cNvPr id="13" name="Shape 11"/>
          <p:cNvSpPr/>
          <p:nvPr/>
        </p:nvSpPr>
        <p:spPr>
          <a:xfrm>
            <a:off x="6720840" y="1627632"/>
            <a:ext cx="128016" cy="128016"/>
          </a:xfrm>
          <a:prstGeom prst="ellipse">
            <a:avLst/>
          </a:prstGeom>
          <a:solidFill>
            <a:srgbClr val="F8C040"/>
          </a:solidFill>
          <a:ln w="12700">
            <a:solidFill>
              <a:srgbClr val="F8C040"/>
            </a:solidFill>
            <a:prstDash val="solid"/>
          </a:ln>
        </p:spPr>
      </p:sp>
      <p:sp>
        <p:nvSpPr>
          <p:cNvPr id="14" name="Shape 12"/>
          <p:cNvSpPr/>
          <p:nvPr/>
        </p:nvSpPr>
        <p:spPr>
          <a:xfrm>
            <a:off x="6958584" y="1627632"/>
            <a:ext cx="128016" cy="128016"/>
          </a:xfrm>
          <a:prstGeom prst="ellipse">
            <a:avLst/>
          </a:prstGeom>
          <a:solidFill>
            <a:srgbClr val="F8C040"/>
          </a:solidFill>
          <a:ln w="12700">
            <a:solidFill>
              <a:srgbClr val="F8C040"/>
            </a:solidFill>
            <a:prstDash val="solid"/>
          </a:ln>
        </p:spPr>
      </p:sp>
      <p:sp>
        <p:nvSpPr>
          <p:cNvPr id="15" name="Shape 13"/>
          <p:cNvSpPr/>
          <p:nvPr/>
        </p:nvSpPr>
        <p:spPr>
          <a:xfrm>
            <a:off x="7196328" y="1627632"/>
            <a:ext cx="128016" cy="128016"/>
          </a:xfrm>
          <a:prstGeom prst="ellipse">
            <a:avLst/>
          </a:prstGeom>
          <a:solidFill>
            <a:srgbClr val="F8C040"/>
          </a:solidFill>
          <a:ln w="12700">
            <a:solidFill>
              <a:srgbClr val="F8C040"/>
            </a:solidFill>
            <a:prstDash val="solid"/>
          </a:ln>
        </p:spPr>
      </p:sp>
      <p:sp>
        <p:nvSpPr>
          <p:cNvPr id="16" name="Shape 14"/>
          <p:cNvSpPr/>
          <p:nvPr/>
        </p:nvSpPr>
        <p:spPr>
          <a:xfrm>
            <a:off x="7434072" y="1627632"/>
            <a:ext cx="128016" cy="128016"/>
          </a:xfrm>
          <a:prstGeom prst="ellipse">
            <a:avLst/>
          </a:prstGeom>
          <a:solidFill>
            <a:srgbClr val="F8C040"/>
          </a:solidFill>
          <a:ln w="12700">
            <a:solidFill>
              <a:srgbClr val="F8C040"/>
            </a:solidFill>
            <a:prstDash val="solid"/>
          </a:ln>
        </p:spPr>
      </p:sp>
      <p:sp>
        <p:nvSpPr>
          <p:cNvPr id="17" name="Text 15"/>
          <p:cNvSpPr/>
          <p:nvPr/>
        </p:nvSpPr>
        <p:spPr>
          <a:xfrm>
            <a:off x="6720840" y="1965960"/>
            <a:ext cx="457200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Quantity</a:t>
            </a:r>
            <a:endParaRPr lang="en-US" sz="1200" dirty="0"/>
          </a:p>
        </p:txBody>
      </p:sp>
      <p:sp>
        <p:nvSpPr>
          <p:cNvPr id="18" name="Text 16"/>
          <p:cNvSpPr/>
          <p:nvPr/>
        </p:nvSpPr>
        <p:spPr>
          <a:xfrm>
            <a:off x="6720840" y="2185416"/>
            <a:ext cx="4572000" cy="292608"/>
          </a:xfrm>
          <a:prstGeom prst="rect">
            <a:avLst/>
          </a:prstGeom>
          <a:noFill/>
          <a:ln/>
        </p:spPr>
        <p:txBody>
          <a:bodyPr wrap="square" lIns="0" tIns="0" rIns="0" bIns="0" rtlCol="0" anchor="ctr"/>
          <a:lstStyle/>
          <a:p>
            <a:pPr indent="0" marL="0">
              <a:buNone/>
            </a:pPr>
            <a:r>
              <a:rPr lang="en-US" sz="1600" dirty="0">
                <a:solidFill>
                  <a:srgbClr val="1D1D1F"/>
                </a:solidFill>
                <a:latin typeface="Helvetica Neue" pitchFamily="34" charset="0"/>
                <a:ea typeface="Helvetica Neue" pitchFamily="34" charset="-122"/>
                <a:cs typeface="Helvetica Neue" pitchFamily="34" charset="-120"/>
              </a:rPr>
              <a:t>18 confirmed  ·  20 was stated</a:t>
            </a:r>
            <a:endParaRPr lang="en-US" sz="1600" dirty="0"/>
          </a:p>
        </p:txBody>
      </p:sp>
      <p:sp>
        <p:nvSpPr>
          <p:cNvPr id="19" name="Text 17"/>
          <p:cNvSpPr/>
          <p:nvPr/>
        </p:nvSpPr>
        <p:spPr>
          <a:xfrm>
            <a:off x="6720840" y="2606040"/>
            <a:ext cx="457200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Sizes</a:t>
            </a:r>
            <a:endParaRPr lang="en-US" sz="1200" dirty="0"/>
          </a:p>
        </p:txBody>
      </p:sp>
      <p:sp>
        <p:nvSpPr>
          <p:cNvPr id="20" name="Text 18"/>
          <p:cNvSpPr/>
          <p:nvPr/>
        </p:nvSpPr>
        <p:spPr>
          <a:xfrm>
            <a:off x="6720840" y="2825496"/>
            <a:ext cx="4572000" cy="292608"/>
          </a:xfrm>
          <a:prstGeom prst="rect">
            <a:avLst/>
          </a:prstGeom>
          <a:noFill/>
          <a:ln/>
        </p:spPr>
        <p:txBody>
          <a:bodyPr wrap="square" lIns="0" tIns="0" rIns="0" bIns="0" rtlCol="0" anchor="ctr"/>
          <a:lstStyle/>
          <a:p>
            <a:pPr indent="0" marL="0">
              <a:buNone/>
            </a:pPr>
            <a:r>
              <a:rPr lang="en-US" sz="1600" dirty="0">
                <a:solidFill>
                  <a:srgbClr val="1D1D1F"/>
                </a:solidFill>
                <a:latin typeface="Helvetica Neue" pitchFamily="34" charset="0"/>
                <a:ea typeface="Helvetica Neue" pitchFamily="34" charset="-122"/>
                <a:cs typeface="Helvetica Neue" pitchFamily="34" charset="-120"/>
              </a:rPr>
              <a:t>Mostly S, M and L</a:t>
            </a:r>
            <a:endParaRPr lang="en-US" sz="1600" dirty="0"/>
          </a:p>
        </p:txBody>
      </p:sp>
      <p:sp>
        <p:nvSpPr>
          <p:cNvPr id="21" name="Text 19"/>
          <p:cNvSpPr/>
          <p:nvPr/>
        </p:nvSpPr>
        <p:spPr>
          <a:xfrm>
            <a:off x="6720840" y="3246120"/>
            <a:ext cx="457200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Defects</a:t>
            </a:r>
            <a:endParaRPr lang="en-US" sz="1200" dirty="0"/>
          </a:p>
        </p:txBody>
      </p:sp>
      <p:sp>
        <p:nvSpPr>
          <p:cNvPr id="22" name="Text 20"/>
          <p:cNvSpPr/>
          <p:nvPr/>
        </p:nvSpPr>
        <p:spPr>
          <a:xfrm>
            <a:off x="6720840" y="3465576"/>
            <a:ext cx="4572000" cy="292608"/>
          </a:xfrm>
          <a:prstGeom prst="rect">
            <a:avLst/>
          </a:prstGeom>
          <a:noFill/>
          <a:ln/>
        </p:spPr>
        <p:txBody>
          <a:bodyPr wrap="square" lIns="0" tIns="0" rIns="0" bIns="0" rtlCol="0" anchor="ctr"/>
          <a:lstStyle/>
          <a:p>
            <a:pPr indent="0" marL="0">
              <a:buNone/>
            </a:pPr>
            <a:r>
              <a:rPr lang="en-US" sz="1600" dirty="0">
                <a:solidFill>
                  <a:srgbClr val="1D1D1F"/>
                </a:solidFill>
                <a:latin typeface="Helvetica Neue" pitchFamily="34" charset="0"/>
                <a:ea typeface="Helvetica Neue" pitchFamily="34" charset="-122"/>
                <a:cs typeface="Helvetica Neue" pitchFamily="34" charset="-120"/>
              </a:rPr>
              <a:t>Two small stains, declared</a:t>
            </a:r>
            <a:endParaRPr lang="en-US" sz="1600" dirty="0"/>
          </a:p>
        </p:txBody>
      </p:sp>
      <p:sp>
        <p:nvSpPr>
          <p:cNvPr id="23" name="Text 21"/>
          <p:cNvSpPr/>
          <p:nvPr/>
        </p:nvSpPr>
        <p:spPr>
          <a:xfrm>
            <a:off x="6720840" y="3886200"/>
            <a:ext cx="457200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Subtotal</a:t>
            </a:r>
            <a:endParaRPr lang="en-US" sz="1200" dirty="0"/>
          </a:p>
        </p:txBody>
      </p:sp>
      <p:sp>
        <p:nvSpPr>
          <p:cNvPr id="24" name="Text 22"/>
          <p:cNvSpPr/>
          <p:nvPr/>
        </p:nvSpPr>
        <p:spPr>
          <a:xfrm>
            <a:off x="6720840" y="4105656"/>
            <a:ext cx="4572000" cy="292608"/>
          </a:xfrm>
          <a:prstGeom prst="rect">
            <a:avLst/>
          </a:prstGeom>
          <a:noFill/>
          <a:ln/>
        </p:spPr>
        <p:txBody>
          <a:bodyPr wrap="square" lIns="0" tIns="0" rIns="0" bIns="0" rtlCol="0" anchor="ctr"/>
          <a:lstStyle/>
          <a:p>
            <a:pPr indent="0" marL="0">
              <a:buNone/>
            </a:pPr>
            <a:r>
              <a:rPr lang="en-US" sz="1600" dirty="0">
                <a:solidFill>
                  <a:srgbClr val="1D1D1F"/>
                </a:solidFill>
                <a:latin typeface="Helvetica Neue" pitchFamily="34" charset="0"/>
                <a:ea typeface="Helvetica Neue" pitchFamily="34" charset="-122"/>
                <a:cs typeface="Helvetica Neue" pitchFamily="34" charset="-120"/>
              </a:rPr>
              <a:t>£144 before shipping</a:t>
            </a:r>
            <a:endParaRPr lang="en-US" sz="1600" dirty="0"/>
          </a:p>
        </p:txBody>
      </p:sp>
      <p:sp>
        <p:nvSpPr>
          <p:cNvPr id="25" name="Text 23"/>
          <p:cNvSpPr/>
          <p:nvPr/>
        </p:nvSpPr>
        <p:spPr>
          <a:xfrm>
            <a:off x="6720840" y="4526280"/>
            <a:ext cx="4572000" cy="219456"/>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Shipping</a:t>
            </a:r>
            <a:endParaRPr lang="en-US" sz="1200" dirty="0"/>
          </a:p>
        </p:txBody>
      </p:sp>
      <p:sp>
        <p:nvSpPr>
          <p:cNvPr id="26" name="Text 24"/>
          <p:cNvSpPr/>
          <p:nvPr/>
        </p:nvSpPr>
        <p:spPr>
          <a:xfrm>
            <a:off x="6720840" y="4745736"/>
            <a:ext cx="4572000" cy="292608"/>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Unknown</a:t>
            </a:r>
            <a:endParaRPr lang="en-US" sz="1600" dirty="0"/>
          </a:p>
        </p:txBody>
      </p:sp>
      <p:sp>
        <p:nvSpPr>
          <p:cNvPr id="27" name="Shape 25"/>
          <p:cNvSpPr/>
          <p:nvPr/>
        </p:nvSpPr>
        <p:spPr>
          <a:xfrm>
            <a:off x="6720840" y="5230368"/>
            <a:ext cx="4572000" cy="475488"/>
          </a:xfrm>
          <a:prstGeom prst="roundRect">
            <a:avLst>
              <a:gd name="adj" fmla="val 15385"/>
            </a:avLst>
          </a:prstGeom>
          <a:solidFill>
            <a:srgbClr val="F8C040"/>
          </a:solidFill>
          <a:ln w="12700">
            <a:solidFill>
              <a:srgbClr val="F8C040"/>
            </a:solidFill>
            <a:prstDash val="solid"/>
          </a:ln>
        </p:spPr>
      </p:sp>
      <p:sp>
        <p:nvSpPr>
          <p:cNvPr id="28" name="Text 26"/>
          <p:cNvSpPr/>
          <p:nvPr/>
        </p:nvSpPr>
        <p:spPr>
          <a:xfrm>
            <a:off x="6720840" y="5230368"/>
            <a:ext cx="4572000" cy="475488"/>
          </a:xfrm>
          <a:prstGeom prst="rect">
            <a:avLst/>
          </a:prstGeom>
          <a:noFill/>
          <a:ln/>
        </p:spPr>
        <p:txBody>
          <a:bodyPr wrap="square" lIns="0" tIns="0" rIns="0" bIns="0" rtlCol="0" anchor="ctr"/>
          <a:lstStyle/>
          <a:p>
            <a:pPr algn="ctr" indent="0" marL="0">
              <a:buNone/>
            </a:pPr>
            <a:r>
              <a:rPr lang="en-US" sz="1600" b="1" dirty="0">
                <a:solidFill>
                  <a:srgbClr val="1D1D1F"/>
                </a:solidFill>
                <a:latin typeface="Helvetica Neue" pitchFamily="34" charset="0"/>
                <a:ea typeface="Helvetica Neue" pitchFamily="34" charset="-122"/>
                <a:cs typeface="Helvetica Neue" pitchFamily="34" charset="-120"/>
              </a:rPr>
              <a:t>Confirm record</a:t>
            </a:r>
            <a:endParaRPr lang="en-US" sz="1600" dirty="0"/>
          </a:p>
        </p:txBody>
      </p:sp>
      <p:sp>
        <p:nvSpPr>
          <p:cNvPr id="29" name="Text 27"/>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30" name="Text 28"/>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347472"/>
            <a:ext cx="10881360" cy="1188720"/>
          </a:xfrm>
          <a:prstGeom prst="rect">
            <a:avLst/>
          </a:prstGeom>
          <a:noFill/>
          <a:ln/>
        </p:spPr>
        <p:txBody>
          <a:bodyPr wrap="square" lIns="0" tIns="0" rIns="0" bIns="0" rtlCol="0" anchor="t"/>
          <a:lstStyle/>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Only what was said</a:t>
            </a:r>
            <a:endParaRPr lang="en-US" sz="3600" dirty="0"/>
          </a:p>
          <a:p>
            <a:pPr indent="0" marL="0">
              <a:buNone/>
            </a:pPr>
            <a:r>
              <a:rPr lang="en-US" sz="3600" b="1" spc="-80" kern="0" dirty="0">
                <a:solidFill>
                  <a:srgbClr val="1D1D1F"/>
                </a:solidFill>
                <a:latin typeface="Helvetica Neue" pitchFamily="34" charset="0"/>
                <a:ea typeface="Helvetica Neue" pitchFamily="34" charset="-122"/>
                <a:cs typeface="Helvetica Neue" pitchFamily="34" charset="-120"/>
              </a:rPr>
              <a:t>enters the record.</a:t>
            </a:r>
            <a:endParaRPr lang="en-US" sz="3600" dirty="0"/>
          </a:p>
        </p:txBody>
      </p:sp>
      <p:sp>
        <p:nvSpPr>
          <p:cNvPr id="3" name="Shape 1"/>
          <p:cNvSpPr/>
          <p:nvPr/>
        </p:nvSpPr>
        <p:spPr>
          <a:xfrm>
            <a:off x="640080" y="1828800"/>
            <a:ext cx="10908792" cy="4297680"/>
          </a:xfrm>
          <a:prstGeom prst="roundRect">
            <a:avLst>
              <a:gd name="adj" fmla="val 1277"/>
            </a:avLst>
          </a:prstGeom>
          <a:solidFill>
            <a:srgbClr val="FFFFFF"/>
          </a:solidFill>
          <a:ln w="12700">
            <a:solidFill>
              <a:srgbClr val="D2D2D7"/>
            </a:solidFill>
            <a:prstDash val="solid"/>
          </a:ln>
          <a:effectLst>
            <a:outerShdw sx="100000" sy="100000" kx="0" ky="0" algn="bl" rotWithShape="0" blurRad="3.056294788605502e+42" dist="1.0915338530733936e+42" dir="5.44195584e+49">
              <a:srgbClr val="000000">
                <a:alpha val="1.4000000000000002e+49"/>
              </a:srgbClr>
            </a:outerShdw>
          </a:effectLst>
        </p:spPr>
      </p:sp>
      <p:sp>
        <p:nvSpPr>
          <p:cNvPr id="4" name="Shape 2"/>
          <p:cNvSpPr/>
          <p:nvPr/>
        </p:nvSpPr>
        <p:spPr>
          <a:xfrm>
            <a:off x="960120" y="2084832"/>
            <a:ext cx="1325880" cy="329184"/>
          </a:xfrm>
          <a:prstGeom prst="roundRect">
            <a:avLst>
              <a:gd name="adj" fmla="val 50000"/>
            </a:avLst>
          </a:prstGeom>
          <a:solidFill>
            <a:srgbClr val="F4F5F7"/>
          </a:solidFill>
          <a:ln w="12700">
            <a:solidFill>
              <a:srgbClr val="F4F5F7"/>
            </a:solidFill>
            <a:prstDash val="solid"/>
          </a:ln>
        </p:spPr>
      </p:sp>
      <p:sp>
        <p:nvSpPr>
          <p:cNvPr id="5" name="Text 3"/>
          <p:cNvSpPr/>
          <p:nvPr/>
        </p:nvSpPr>
        <p:spPr>
          <a:xfrm>
            <a:off x="960120" y="2084832"/>
            <a:ext cx="1325880" cy="329184"/>
          </a:xfrm>
          <a:prstGeom prst="rect">
            <a:avLst/>
          </a:prstGeom>
          <a:noFill/>
          <a:ln/>
        </p:spPr>
        <p:txBody>
          <a:bodyPr wrap="square" lIns="0" tIns="0" rIns="0" bIns="0" rtlCol="0" anchor="ctr"/>
          <a:lstStyle/>
          <a:p>
            <a:pPr algn="ctr" indent="0" marL="0">
              <a:buNone/>
            </a:pPr>
            <a:r>
              <a:rPr lang="en-US" sz="1200" b="1" dirty="0">
                <a:solidFill>
                  <a:srgbClr val="1D1D1F"/>
                </a:solidFill>
                <a:latin typeface="Helvetica Neue" pitchFamily="34" charset="0"/>
                <a:ea typeface="Helvetica Neue" pitchFamily="34" charset="-122"/>
                <a:cs typeface="Helvetica Neue" pitchFamily="34" charset="-120"/>
              </a:rPr>
              <a:t>Declared</a:t>
            </a:r>
            <a:endParaRPr lang="en-US" sz="1200" dirty="0"/>
          </a:p>
        </p:txBody>
      </p:sp>
      <p:sp>
        <p:nvSpPr>
          <p:cNvPr id="6" name="Shape 4"/>
          <p:cNvSpPr/>
          <p:nvPr/>
        </p:nvSpPr>
        <p:spPr>
          <a:xfrm>
            <a:off x="2395728" y="2084832"/>
            <a:ext cx="1463040" cy="329184"/>
          </a:xfrm>
          <a:prstGeom prst="roundRect">
            <a:avLst>
              <a:gd name="adj" fmla="val 50000"/>
            </a:avLst>
          </a:prstGeom>
          <a:solidFill>
            <a:srgbClr val="E7F6EE"/>
          </a:solidFill>
          <a:ln w="12700">
            <a:solidFill>
              <a:srgbClr val="E7F6EE"/>
            </a:solidFill>
            <a:prstDash val="solid"/>
          </a:ln>
        </p:spPr>
      </p:sp>
      <p:sp>
        <p:nvSpPr>
          <p:cNvPr id="7" name="Text 5"/>
          <p:cNvSpPr/>
          <p:nvPr/>
        </p:nvSpPr>
        <p:spPr>
          <a:xfrm>
            <a:off x="2395728" y="2084832"/>
            <a:ext cx="1463040" cy="329184"/>
          </a:xfrm>
          <a:prstGeom prst="rect">
            <a:avLst/>
          </a:prstGeom>
          <a:noFill/>
          <a:ln/>
        </p:spPr>
        <p:txBody>
          <a:bodyPr wrap="square" lIns="0" tIns="0" rIns="0" bIns="0" rtlCol="0" anchor="ctr"/>
          <a:lstStyle/>
          <a:p>
            <a:pPr algn="ctr" indent="0" marL="0">
              <a:buNone/>
            </a:pPr>
            <a:r>
              <a:rPr lang="en-US" sz="1200" b="1" dirty="0">
                <a:solidFill>
                  <a:srgbClr val="1D1D1F"/>
                </a:solidFill>
                <a:latin typeface="Helvetica Neue" pitchFamily="34" charset="0"/>
                <a:ea typeface="Helvetica Neue" pitchFamily="34" charset="-122"/>
                <a:cs typeface="Helvetica Neue" pitchFamily="34" charset="-120"/>
              </a:rPr>
              <a:t>Confirmed</a:t>
            </a:r>
            <a:endParaRPr lang="en-US" sz="1200" dirty="0"/>
          </a:p>
        </p:txBody>
      </p:sp>
      <p:sp>
        <p:nvSpPr>
          <p:cNvPr id="8" name="Shape 6"/>
          <p:cNvSpPr/>
          <p:nvPr/>
        </p:nvSpPr>
        <p:spPr>
          <a:xfrm>
            <a:off x="3968496" y="2084832"/>
            <a:ext cx="1325880" cy="329184"/>
          </a:xfrm>
          <a:prstGeom prst="roundRect">
            <a:avLst>
              <a:gd name="adj" fmla="val 50000"/>
            </a:avLst>
          </a:prstGeom>
          <a:solidFill>
            <a:srgbClr val="E8E8ED"/>
          </a:solidFill>
          <a:ln w="12700">
            <a:solidFill>
              <a:srgbClr val="E8E8ED"/>
            </a:solidFill>
            <a:prstDash val="solid"/>
          </a:ln>
        </p:spPr>
      </p:sp>
      <p:sp>
        <p:nvSpPr>
          <p:cNvPr id="9" name="Text 7"/>
          <p:cNvSpPr/>
          <p:nvPr/>
        </p:nvSpPr>
        <p:spPr>
          <a:xfrm>
            <a:off x="3968496" y="2084832"/>
            <a:ext cx="1325880" cy="329184"/>
          </a:xfrm>
          <a:prstGeom prst="rect">
            <a:avLst/>
          </a:prstGeom>
          <a:noFill/>
          <a:ln/>
        </p:spPr>
        <p:txBody>
          <a:bodyPr wrap="square" lIns="0" tIns="0" rIns="0" bIns="0" rtlCol="0" anchor="ctr"/>
          <a:lstStyle/>
          <a:p>
            <a:pPr algn="ctr" indent="0" marL="0">
              <a:buNone/>
            </a:pPr>
            <a:r>
              <a:rPr lang="en-US" sz="1200" b="1" dirty="0">
                <a:solidFill>
                  <a:srgbClr val="3A3A3E"/>
                </a:solidFill>
                <a:latin typeface="Helvetica Neue" pitchFamily="34" charset="0"/>
                <a:ea typeface="Helvetica Neue" pitchFamily="34" charset="-122"/>
                <a:cs typeface="Helvetica Neue" pitchFamily="34" charset="-120"/>
              </a:rPr>
              <a:t>Unknown</a:t>
            </a:r>
            <a:endParaRPr lang="en-US" sz="1200" dirty="0"/>
          </a:p>
        </p:txBody>
      </p:sp>
      <p:sp>
        <p:nvSpPr>
          <p:cNvPr id="10" name="Text 8"/>
          <p:cNvSpPr/>
          <p:nvPr/>
        </p:nvSpPr>
        <p:spPr>
          <a:xfrm>
            <a:off x="960120" y="2651760"/>
            <a:ext cx="3931920" cy="64008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Silence stays unknown.</a:t>
            </a:r>
            <a:endParaRPr lang="en-US" sz="1800" dirty="0"/>
          </a:p>
        </p:txBody>
      </p:sp>
      <p:sp>
        <p:nvSpPr>
          <p:cNvPr id="11" name="Text 9"/>
          <p:cNvSpPr/>
          <p:nvPr/>
        </p:nvSpPr>
        <p:spPr>
          <a:xfrm>
            <a:off x="5029200" y="2651760"/>
            <a:ext cx="6126480" cy="64008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A field with no statement does not become a fact.</a:t>
            </a:r>
            <a:endParaRPr lang="en-US" sz="1600" dirty="0"/>
          </a:p>
        </p:txBody>
      </p:sp>
      <p:sp>
        <p:nvSpPr>
          <p:cNvPr id="12" name="Text 10"/>
          <p:cNvSpPr/>
          <p:nvPr/>
        </p:nvSpPr>
        <p:spPr>
          <a:xfrm>
            <a:off x="960120" y="3456432"/>
            <a:ext cx="3931920" cy="64008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Grade stays open.</a:t>
            </a:r>
            <a:endParaRPr lang="en-US" sz="1800" dirty="0"/>
          </a:p>
        </p:txBody>
      </p:sp>
      <p:sp>
        <p:nvSpPr>
          <p:cNvPr id="13" name="Text 11"/>
          <p:cNvSpPr/>
          <p:nvPr/>
        </p:nvSpPr>
        <p:spPr>
          <a:xfrm>
            <a:off x="5029200" y="3456432"/>
            <a:ext cx="6126480" cy="64008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FleekFlow does not assign a grade or mark the supplier as verified.</a:t>
            </a:r>
            <a:endParaRPr lang="en-US" sz="1600" dirty="0"/>
          </a:p>
        </p:txBody>
      </p:sp>
      <p:sp>
        <p:nvSpPr>
          <p:cNvPr id="14" name="Text 12"/>
          <p:cNvSpPr/>
          <p:nvPr/>
        </p:nvSpPr>
        <p:spPr>
          <a:xfrm>
            <a:off x="960120" y="4261104"/>
            <a:ext cx="3931920" cy="64008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A photo shows a detail.</a:t>
            </a:r>
            <a:endParaRPr lang="en-US" sz="1800" dirty="0"/>
          </a:p>
        </p:txBody>
      </p:sp>
      <p:sp>
        <p:nvSpPr>
          <p:cNvPr id="15" name="Text 13"/>
          <p:cNvSpPr/>
          <p:nvPr/>
        </p:nvSpPr>
        <p:spPr>
          <a:xfrm>
            <a:off x="5029200" y="4261104"/>
            <a:ext cx="6126480" cy="64008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It does not prove identity, authenticity, or every piece.</a:t>
            </a:r>
            <a:endParaRPr lang="en-US" sz="1600" dirty="0"/>
          </a:p>
        </p:txBody>
      </p:sp>
      <p:sp>
        <p:nvSpPr>
          <p:cNvPr id="16" name="Text 14"/>
          <p:cNvSpPr/>
          <p:nvPr/>
        </p:nvSpPr>
        <p:spPr>
          <a:xfrm>
            <a:off x="960120" y="5065776"/>
            <a:ext cx="3931920" cy="640080"/>
          </a:xfrm>
          <a:prstGeom prst="rect">
            <a:avLst/>
          </a:prstGeom>
          <a:noFill/>
          <a:ln/>
        </p:spPr>
        <p:txBody>
          <a:bodyPr wrap="square" lIns="0" tIns="0" rIns="0" bIns="0" rtlCol="0" anchor="ctr"/>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The SKU waits for “I confirm”.</a:t>
            </a:r>
            <a:endParaRPr lang="en-US" sz="1800" dirty="0"/>
          </a:p>
        </p:txBody>
      </p:sp>
      <p:sp>
        <p:nvSpPr>
          <p:cNvPr id="17" name="Text 15"/>
          <p:cNvSpPr/>
          <p:nvPr/>
        </p:nvSpPr>
        <p:spPr>
          <a:xfrm>
            <a:off x="5029200" y="5065776"/>
            <a:ext cx="6126480" cy="640080"/>
          </a:xfrm>
          <a:prstGeom prst="rect">
            <a:avLst/>
          </a:prstGeom>
          <a:noFill/>
          <a:ln/>
        </p:spPr>
        <p:txBody>
          <a:bodyPr wrap="square" lIns="0" tIns="0" rIns="0" bIns="0"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Stock equals the confirmed quantity. Shipping stays unknown until stated.</a:t>
            </a:r>
            <a:endParaRPr lang="en-US" sz="1600" dirty="0"/>
          </a:p>
        </p:txBody>
      </p:sp>
      <p:sp>
        <p:nvSpPr>
          <p:cNvPr id="18" name="Text 16"/>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19" name="Text 17"/>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58368" y="1143000"/>
            <a:ext cx="10515600" cy="2468880"/>
          </a:xfrm>
          <a:prstGeom prst="rect">
            <a:avLst/>
          </a:prstGeom>
          <a:noFill/>
          <a:ln/>
        </p:spPr>
        <p:txBody>
          <a:bodyPr wrap="square" lIns="0" tIns="0" rIns="0" bIns="0" rtlCol="0" anchor="ctr"/>
          <a:lstStyle/>
          <a:p>
            <a:pPr indent="0" marL="0">
              <a:buNone/>
            </a:pPr>
            <a:r>
              <a:rPr lang="en-US" sz="4200" b="1" spc="-100" kern="0" dirty="0">
                <a:solidFill>
                  <a:srgbClr val="1D1D1F"/>
                </a:solidFill>
                <a:latin typeface="Helvetica Neue" pitchFamily="34" charset="0"/>
                <a:ea typeface="Helvetica Neue" pitchFamily="34" charset="-122"/>
                <a:cs typeface="Helvetica Neue" pitchFamily="34" charset="-120"/>
              </a:rPr>
              <a:t>A clearer lot at the source.</a:t>
            </a:r>
            <a:endParaRPr lang="en-US" sz="4200" dirty="0"/>
          </a:p>
          <a:p>
            <a:pPr indent="0" marL="0">
              <a:buNone/>
            </a:pPr>
            <a:r>
              <a:rPr lang="en-US" sz="4200" b="1" spc="-100" kern="0" dirty="0">
                <a:solidFill>
                  <a:srgbClr val="1D1D1F"/>
                </a:solidFill>
                <a:latin typeface="Helvetica Neue" pitchFamily="34" charset="0"/>
                <a:ea typeface="Helvetica Neue" pitchFamily="34" charset="-122"/>
                <a:cs typeface="Helvetica Neue" pitchFamily="34" charset="-120"/>
              </a:rPr>
              <a:t>The same record when</a:t>
            </a:r>
            <a:endParaRPr lang="en-US" sz="4200" dirty="0"/>
          </a:p>
          <a:p>
            <a:pPr indent="0" marL="0">
              <a:buNone/>
            </a:pPr>
            <a:r>
              <a:rPr lang="en-US" sz="4200" b="1" spc="-100" kern="0" dirty="0">
                <a:solidFill>
                  <a:srgbClr val="1D1D1F"/>
                </a:solidFill>
                <a:latin typeface="Helvetica Neue" pitchFamily="34" charset="0"/>
                <a:ea typeface="Helvetica Neue" pitchFamily="34" charset="-122"/>
                <a:cs typeface="Helvetica Neue" pitchFamily="34" charset="-120"/>
              </a:rPr>
              <a:t>the box differs.</a:t>
            </a:r>
            <a:endParaRPr lang="en-US" sz="4200" dirty="0"/>
          </a:p>
        </p:txBody>
      </p:sp>
      <p:sp>
        <p:nvSpPr>
          <p:cNvPr id="3" name="Text 1"/>
          <p:cNvSpPr/>
          <p:nvPr/>
        </p:nvSpPr>
        <p:spPr>
          <a:xfrm>
            <a:off x="658368" y="3794760"/>
            <a:ext cx="8412480" cy="640080"/>
          </a:xfrm>
          <a:prstGeom prst="rect">
            <a:avLst/>
          </a:prstGeom>
          <a:noFill/>
          <a:ln/>
        </p:spPr>
        <p:txBody>
          <a:bodyPr wrap="square" lIns="0" tIns="0" rIns="0" bIns="0" rtlCol="0" anchor="ctr"/>
          <a:lstStyle/>
          <a:p>
            <a:pPr indent="0" marL="0">
              <a:buNone/>
            </a:pPr>
            <a:r>
              <a:rPr lang="en-US" sz="1800" dirty="0">
                <a:solidFill>
                  <a:srgbClr val="6E6E73"/>
                </a:solidFill>
                <a:latin typeface="Helvetica Neue" pitchFamily="34" charset="0"/>
                <a:ea typeface="Helvetica Neue" pitchFamily="34" charset="-122"/>
                <a:cs typeface="Helvetica Neue" pitchFamily="34" charset="-120"/>
              </a:rPr>
              <a:t>I’ll show the supplier finish the lot, the buyer read it, and the reviewer receive that document.</a:t>
            </a:r>
            <a:endParaRPr lang="en-US" sz="1800" dirty="0"/>
          </a:p>
        </p:txBody>
      </p:sp>
      <p:sp>
        <p:nvSpPr>
          <p:cNvPr id="4" name="Shape 2"/>
          <p:cNvSpPr/>
          <p:nvPr/>
        </p:nvSpPr>
        <p:spPr>
          <a:xfrm>
            <a:off x="658368" y="4709160"/>
            <a:ext cx="2148840" cy="512064"/>
          </a:xfrm>
          <a:prstGeom prst="roundRect">
            <a:avLst>
              <a:gd name="adj" fmla="val 14286"/>
            </a:avLst>
          </a:prstGeom>
          <a:solidFill>
            <a:srgbClr val="F8C040"/>
          </a:solidFill>
          <a:ln w="12700">
            <a:solidFill>
              <a:srgbClr val="F8C040"/>
            </a:solidFill>
            <a:prstDash val="solid"/>
          </a:ln>
        </p:spPr>
      </p:sp>
      <p:sp>
        <p:nvSpPr>
          <p:cNvPr id="5" name="Text 3"/>
          <p:cNvSpPr/>
          <p:nvPr/>
        </p:nvSpPr>
        <p:spPr>
          <a:xfrm>
            <a:off x="658368" y="4709160"/>
            <a:ext cx="2148840" cy="512064"/>
          </a:xfrm>
          <a:prstGeom prst="rect">
            <a:avLst/>
          </a:prstGeom>
          <a:noFill/>
          <a:ln/>
        </p:spPr>
        <p:txBody>
          <a:bodyPr wrap="square" lIns="0" tIns="0" rIns="0" bIns="0" rtlCol="0" anchor="ctr"/>
          <a:lstStyle/>
          <a:p>
            <a:pPr algn="ctr" indent="0" marL="0">
              <a:buNone/>
            </a:pPr>
            <a:r>
              <a:rPr lang="en-US" sz="1600" b="1" dirty="0">
                <a:solidFill>
                  <a:srgbClr val="1D1D1F"/>
                </a:solidFill>
                <a:latin typeface="Helvetica Neue" pitchFamily="34" charset="0"/>
                <a:ea typeface="Helvetica Neue" pitchFamily="34" charset="-122"/>
                <a:cs typeface="Helvetica Neue" pitchFamily="34" charset="-120"/>
              </a:rPr>
              <a:t>Live demo</a:t>
            </a:r>
            <a:endParaRPr lang="en-US" sz="1600" dirty="0"/>
          </a:p>
        </p:txBody>
      </p:sp>
      <p:sp>
        <p:nvSpPr>
          <p:cNvPr id="6" name="Text 4"/>
          <p:cNvSpPr/>
          <p:nvPr/>
        </p:nvSpPr>
        <p:spPr>
          <a:xfrm>
            <a:off x="3017520" y="4709160"/>
            <a:ext cx="8412480" cy="512064"/>
          </a:xfrm>
          <a:prstGeom prst="rect">
            <a:avLst/>
          </a:prstGeom>
          <a:noFill/>
          <a:ln/>
        </p:spPr>
        <p:txBody>
          <a:bodyPr wrap="square" lIns="0" tIns="0" rIns="0" bIns="0" rtlCol="0" anchor="ctr"/>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Conversation   →   Confirmed record   →   Buyer decision   →   Human review</a:t>
            </a:r>
            <a:endParaRPr lang="en-US" sz="1500" dirty="0"/>
          </a:p>
        </p:txBody>
      </p:sp>
      <p:sp>
        <p:nvSpPr>
          <p:cNvPr id="7" name="Text 5"/>
          <p:cNvSpPr/>
          <p:nvPr/>
        </p:nvSpPr>
        <p:spPr>
          <a:xfrm>
            <a:off x="640080" y="6473952"/>
            <a:ext cx="2011680" cy="256032"/>
          </a:xfrm>
          <a:prstGeom prst="rect">
            <a:avLst/>
          </a:prstGeom>
          <a:noFill/>
          <a:ln/>
        </p:spPr>
        <p:txBody>
          <a:bodyPr wrap="square" lIns="0" tIns="0" rIns="0" bIns="0" rtlCol="0" anchor="ctr"/>
          <a:lstStyle/>
          <a:p>
            <a:pPr indent="0" marL="0">
              <a:buNone/>
            </a:pPr>
            <a:r>
              <a:rPr lang="en-US" sz="1200" b="1" dirty="0">
                <a:solidFill>
                  <a:srgbClr val="6E6E73"/>
                </a:solidFill>
                <a:latin typeface="Helvetica Neue" pitchFamily="34" charset="0"/>
                <a:ea typeface="Helvetica Neue" pitchFamily="34" charset="-122"/>
                <a:cs typeface="Helvetica Neue" pitchFamily="34" charset="-120"/>
              </a:rPr>
              <a:t>FleekFlow</a:t>
            </a:r>
            <a:endParaRPr lang="en-US" sz="1200" dirty="0"/>
          </a:p>
        </p:txBody>
      </p:sp>
      <p:sp>
        <p:nvSpPr>
          <p:cNvPr id="8" name="Text 6"/>
          <p:cNvSpPr/>
          <p:nvPr/>
        </p:nvSpPr>
        <p:spPr>
          <a:xfrm>
            <a:off x="10607040" y="6473952"/>
            <a:ext cx="960120" cy="256032"/>
          </a:xfrm>
          <a:prstGeom prst="rect">
            <a:avLst/>
          </a:prstGeom>
          <a:noFill/>
          <a:ln/>
        </p:spPr>
        <p:txBody>
          <a:bodyPr wrap="square" lIns="0" tIns="0" rIns="0" bIns="0" rtlCol="0" anchor="ctr"/>
          <a:lstStyle/>
          <a:p>
            <a:pPr algn="r" indent="0" marL="0">
              <a:buNone/>
            </a:pPr>
            <a:r>
              <a:rPr lang="en-US" sz="1200" b="1" dirty="0">
                <a:solidFill>
                  <a:srgbClr val="6E6E73"/>
                </a:solidFill>
                <a:latin typeface="Helvetica Neue" pitchFamily="34" charset="0"/>
                <a:ea typeface="Helvetica Neue" pitchFamily="34" charset="-122"/>
                <a:cs typeface="Helvetica Neue" pitchFamily="34" charset="-120"/>
              </a:rPr>
              <a:t>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FleekFlow — Finish the lot</dc:title>
  <dc:subject>Merchant tooling pitch</dc:subject>
  <dc:creator>FleekFlow</dc:creator>
  <cp:lastModifiedBy>FleekFlow</cp:lastModifiedBy>
  <cp:revision>1</cp:revision>
  <dcterms:created xsi:type="dcterms:W3CDTF">2026-09-26T13:16:22Z</dcterms:created>
  <dcterms:modified xsi:type="dcterms:W3CDTF">2026-09-26T13:16:22Z</dcterms:modified>
</cp:coreProperties>
</file>